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74" r:id="rId3"/>
    <p:sldId id="276" r:id="rId4"/>
    <p:sldId id="275" r:id="rId5"/>
    <p:sldId id="258" r:id="rId6"/>
    <p:sldId id="273" r:id="rId7"/>
    <p:sldId id="266" r:id="rId8"/>
    <p:sldId id="271" r:id="rId9"/>
    <p:sldId id="269" r:id="rId10"/>
    <p:sldId id="277" r:id="rId11"/>
    <p:sldId id="278" r:id="rId12"/>
    <p:sldId id="280" r:id="rId13"/>
    <p:sldId id="281" r:id="rId14"/>
    <p:sldId id="282" r:id="rId15"/>
    <p:sldId id="286" r:id="rId16"/>
    <p:sldId id="283" r:id="rId17"/>
    <p:sldId id="284" r:id="rId18"/>
    <p:sldId id="285" r:id="rId19"/>
    <p:sldId id="272" r:id="rId20"/>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2508" autoAdjust="0"/>
  </p:normalViewPr>
  <p:slideViewPr>
    <p:cSldViewPr>
      <p:cViewPr varScale="1">
        <p:scale>
          <a:sx n="60" d="100"/>
          <a:sy n="60" d="100"/>
        </p:scale>
        <p:origin x="1005" y="3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p:scale>
          <a:sx n="50" d="100"/>
          <a:sy n="50" d="100"/>
        </p:scale>
        <p:origin x="2708" y="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D7E860-9231-49B3-937E-9B81C09EFA46}" type="datetimeFigureOut">
              <a:rPr lang="de-DE" smtClean="0"/>
              <a:t>01.01.2026</a:t>
            </a:fld>
            <a:endParaRPr lang="de-D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DCE79A-8D5D-40D0-9DD0-D42B37E742EA}" type="slidenum">
              <a:rPr lang="de-DE" smtClean="0"/>
              <a:t>‹Nr.›</a:t>
            </a:fld>
            <a:endParaRPr lang="de-DE"/>
          </a:p>
        </p:txBody>
      </p:sp>
    </p:spTree>
    <p:extLst>
      <p:ext uri="{BB962C8B-B14F-4D97-AF65-F5344CB8AC3E}">
        <p14:creationId xmlns:p14="http://schemas.microsoft.com/office/powerpoint/2010/main" val="657444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smtClean="0"/>
              <a:t>1</a:t>
            </a:fld>
            <a:endParaRPr lang="de-DE"/>
          </a:p>
        </p:txBody>
      </p:sp>
    </p:spTree>
    <p:extLst>
      <p:ext uri="{BB962C8B-B14F-4D97-AF65-F5344CB8AC3E}">
        <p14:creationId xmlns:p14="http://schemas.microsoft.com/office/powerpoint/2010/main" val="797359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smtClean="0"/>
              <a:t>2</a:t>
            </a:fld>
            <a:endParaRPr lang="de-DE"/>
          </a:p>
        </p:txBody>
      </p:sp>
    </p:spTree>
    <p:extLst>
      <p:ext uri="{BB962C8B-B14F-4D97-AF65-F5344CB8AC3E}">
        <p14:creationId xmlns:p14="http://schemas.microsoft.com/office/powerpoint/2010/main" val="32442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smtClean="0"/>
              <a:t>4</a:t>
            </a:fld>
            <a:endParaRPr lang="de-DE"/>
          </a:p>
        </p:txBody>
      </p:sp>
    </p:spTree>
    <p:extLst>
      <p:ext uri="{BB962C8B-B14F-4D97-AF65-F5344CB8AC3E}">
        <p14:creationId xmlns:p14="http://schemas.microsoft.com/office/powerpoint/2010/main" val="385751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smtClean="0"/>
              <a:t>5</a:t>
            </a:fld>
            <a:endParaRPr lang="de-DE"/>
          </a:p>
        </p:txBody>
      </p:sp>
    </p:spTree>
    <p:extLst>
      <p:ext uri="{BB962C8B-B14F-4D97-AF65-F5344CB8AC3E}">
        <p14:creationId xmlns:p14="http://schemas.microsoft.com/office/powerpoint/2010/main" val="797359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smtClean="0"/>
              <a:t>6</a:t>
            </a:fld>
            <a:endParaRPr lang="de-DE"/>
          </a:p>
        </p:txBody>
      </p:sp>
    </p:spTree>
    <p:extLst>
      <p:ext uri="{BB962C8B-B14F-4D97-AF65-F5344CB8AC3E}">
        <p14:creationId xmlns:p14="http://schemas.microsoft.com/office/powerpoint/2010/main" val="933423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7</a:t>
            </a:fld>
            <a:endParaRPr lang="de-DE">
              <a:solidFill>
                <a:prstClr val="black"/>
              </a:solidFill>
            </a:endParaRPr>
          </a:p>
        </p:txBody>
      </p:sp>
    </p:spTree>
    <p:extLst>
      <p:ext uri="{BB962C8B-B14F-4D97-AF65-F5344CB8AC3E}">
        <p14:creationId xmlns:p14="http://schemas.microsoft.com/office/powerpoint/2010/main" val="2737692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8</a:t>
            </a:fld>
            <a:endParaRPr lang="de-DE">
              <a:solidFill>
                <a:prstClr val="black"/>
              </a:solidFill>
            </a:endParaRPr>
          </a:p>
        </p:txBody>
      </p:sp>
    </p:spTree>
    <p:extLst>
      <p:ext uri="{BB962C8B-B14F-4D97-AF65-F5344CB8AC3E}">
        <p14:creationId xmlns:p14="http://schemas.microsoft.com/office/powerpoint/2010/main" val="164011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9</a:t>
            </a:fld>
            <a:endParaRPr lang="de-DE">
              <a:solidFill>
                <a:prstClr val="black"/>
              </a:solidFill>
            </a:endParaRPr>
          </a:p>
        </p:txBody>
      </p:sp>
    </p:spTree>
    <p:extLst>
      <p:ext uri="{BB962C8B-B14F-4D97-AF65-F5344CB8AC3E}">
        <p14:creationId xmlns:p14="http://schemas.microsoft.com/office/powerpoint/2010/main" val="3534195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10</a:t>
            </a:fld>
            <a:endParaRPr lang="de-DE">
              <a:solidFill>
                <a:prstClr val="black"/>
              </a:solidFill>
            </a:endParaRPr>
          </a:p>
        </p:txBody>
      </p:sp>
    </p:spTree>
    <p:extLst>
      <p:ext uri="{BB962C8B-B14F-4D97-AF65-F5344CB8AC3E}">
        <p14:creationId xmlns:p14="http://schemas.microsoft.com/office/powerpoint/2010/main" val="2625958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11</a:t>
            </a:fld>
            <a:endParaRPr lang="de-DE">
              <a:solidFill>
                <a:prstClr val="black"/>
              </a:solidFill>
            </a:endParaRPr>
          </a:p>
        </p:txBody>
      </p:sp>
    </p:spTree>
    <p:extLst>
      <p:ext uri="{BB962C8B-B14F-4D97-AF65-F5344CB8AC3E}">
        <p14:creationId xmlns:p14="http://schemas.microsoft.com/office/powerpoint/2010/main" val="1379854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12</a:t>
            </a:fld>
            <a:endParaRPr lang="de-DE">
              <a:solidFill>
                <a:prstClr val="black"/>
              </a:solidFill>
            </a:endParaRPr>
          </a:p>
        </p:txBody>
      </p:sp>
    </p:spTree>
    <p:extLst>
      <p:ext uri="{BB962C8B-B14F-4D97-AF65-F5344CB8AC3E}">
        <p14:creationId xmlns:p14="http://schemas.microsoft.com/office/powerpoint/2010/main" val="2012567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13</a:t>
            </a:fld>
            <a:endParaRPr lang="de-DE">
              <a:solidFill>
                <a:prstClr val="black"/>
              </a:solidFill>
            </a:endParaRPr>
          </a:p>
        </p:txBody>
      </p:sp>
    </p:spTree>
    <p:extLst>
      <p:ext uri="{BB962C8B-B14F-4D97-AF65-F5344CB8AC3E}">
        <p14:creationId xmlns:p14="http://schemas.microsoft.com/office/powerpoint/2010/main" val="1216888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14</a:t>
            </a:fld>
            <a:endParaRPr lang="de-DE">
              <a:solidFill>
                <a:prstClr val="black"/>
              </a:solidFill>
            </a:endParaRPr>
          </a:p>
        </p:txBody>
      </p:sp>
    </p:spTree>
    <p:extLst>
      <p:ext uri="{BB962C8B-B14F-4D97-AF65-F5344CB8AC3E}">
        <p14:creationId xmlns:p14="http://schemas.microsoft.com/office/powerpoint/2010/main" val="213540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16</a:t>
            </a:fld>
            <a:endParaRPr lang="de-DE">
              <a:solidFill>
                <a:prstClr val="black"/>
              </a:solidFill>
            </a:endParaRPr>
          </a:p>
        </p:txBody>
      </p:sp>
    </p:spTree>
    <p:extLst>
      <p:ext uri="{BB962C8B-B14F-4D97-AF65-F5344CB8AC3E}">
        <p14:creationId xmlns:p14="http://schemas.microsoft.com/office/powerpoint/2010/main" val="1150741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17</a:t>
            </a:fld>
            <a:endParaRPr lang="de-DE">
              <a:solidFill>
                <a:prstClr val="black"/>
              </a:solidFill>
            </a:endParaRPr>
          </a:p>
        </p:txBody>
      </p:sp>
    </p:spTree>
    <p:extLst>
      <p:ext uri="{BB962C8B-B14F-4D97-AF65-F5344CB8AC3E}">
        <p14:creationId xmlns:p14="http://schemas.microsoft.com/office/powerpoint/2010/main" val="45596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18</a:t>
            </a:fld>
            <a:endParaRPr lang="de-DE">
              <a:solidFill>
                <a:prstClr val="black"/>
              </a:solidFill>
            </a:endParaRPr>
          </a:p>
        </p:txBody>
      </p:sp>
    </p:spTree>
    <p:extLst>
      <p:ext uri="{BB962C8B-B14F-4D97-AF65-F5344CB8AC3E}">
        <p14:creationId xmlns:p14="http://schemas.microsoft.com/office/powerpoint/2010/main" val="1004325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46DCE79A-8D5D-40D0-9DD0-D42B37E742EA}" type="slidenum">
              <a:rPr lang="de-DE">
                <a:solidFill>
                  <a:prstClr val="black"/>
                </a:solidFill>
              </a:rPr>
              <a:pPr/>
              <a:t>19</a:t>
            </a:fld>
            <a:endParaRPr lang="de-DE">
              <a:solidFill>
                <a:prstClr val="black"/>
              </a:solidFill>
            </a:endParaRPr>
          </a:p>
        </p:txBody>
      </p:sp>
    </p:spTree>
    <p:extLst>
      <p:ext uri="{BB962C8B-B14F-4D97-AF65-F5344CB8AC3E}">
        <p14:creationId xmlns:p14="http://schemas.microsoft.com/office/powerpoint/2010/main" val="1860994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a:p>
        </p:txBody>
      </p:sp>
      <p:sp>
        <p:nvSpPr>
          <p:cNvPr id="4" name="Date Placeholder 3"/>
          <p:cNvSpPr>
            <a:spLocks noGrp="1"/>
          </p:cNvSpPr>
          <p:nvPr>
            <p:ph type="dt" sz="half" idx="10"/>
          </p:nvPr>
        </p:nvSpPr>
        <p:spPr/>
        <p:txBody>
          <a:bodyPr/>
          <a:lstStyle/>
          <a:p>
            <a:fld id="{B9942243-5FD6-495A-8306-BD7B3BE0C02D}" type="datetimeFigureOut">
              <a:rPr lang="de-DE" smtClean="0"/>
              <a:t>01.01.2026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4230116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Date Placeholder 3"/>
          <p:cNvSpPr>
            <a:spLocks noGrp="1"/>
          </p:cNvSpPr>
          <p:nvPr>
            <p:ph type="dt" sz="half" idx="10"/>
          </p:nvPr>
        </p:nvSpPr>
        <p:spPr/>
        <p:txBody>
          <a:bodyPr/>
          <a:lstStyle/>
          <a:p>
            <a:fld id="{B9942243-5FD6-495A-8306-BD7B3BE0C02D}" type="datetimeFigureOut">
              <a:rPr lang="de-DE" smtClean="0"/>
              <a:t>01.01.2026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250215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9942243-5FD6-495A-8306-BD7B3BE0C02D}" type="datetimeFigureOut">
              <a:rPr lang="de-DE" smtClean="0"/>
              <a:t>01.01.2026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2004148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Date Placeholder 4"/>
          <p:cNvSpPr>
            <a:spLocks noGrp="1"/>
          </p:cNvSpPr>
          <p:nvPr>
            <p:ph type="dt" sz="half" idx="10"/>
          </p:nvPr>
        </p:nvSpPr>
        <p:spPr/>
        <p:txBody>
          <a:bodyPr/>
          <a:lstStyle/>
          <a:p>
            <a:fld id="{B9942243-5FD6-495A-8306-BD7B3BE0C02D}" type="datetimeFigureOut">
              <a:rPr lang="de-DE" smtClean="0"/>
              <a:t>01.01.2026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2087005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7" name="Date Placeholder 6"/>
          <p:cNvSpPr>
            <a:spLocks noGrp="1"/>
          </p:cNvSpPr>
          <p:nvPr>
            <p:ph type="dt" sz="half" idx="10"/>
          </p:nvPr>
        </p:nvSpPr>
        <p:spPr/>
        <p:txBody>
          <a:bodyPr/>
          <a:lstStyle/>
          <a:p>
            <a:fld id="{B9942243-5FD6-495A-8306-BD7B3BE0C02D}" type="datetimeFigureOut">
              <a:rPr lang="de-DE" smtClean="0"/>
              <a:t>01.01.2026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45069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Date Placeholder 2"/>
          <p:cNvSpPr>
            <a:spLocks noGrp="1"/>
          </p:cNvSpPr>
          <p:nvPr>
            <p:ph type="dt" sz="half" idx="10"/>
          </p:nvPr>
        </p:nvSpPr>
        <p:spPr/>
        <p:txBody>
          <a:bodyPr/>
          <a:lstStyle/>
          <a:p>
            <a:fld id="{B9942243-5FD6-495A-8306-BD7B3BE0C02D}" type="datetimeFigureOut">
              <a:rPr lang="de-DE" smtClean="0"/>
              <a:t>01.01.2026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3614495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942243-5FD6-495A-8306-BD7B3BE0C02D}" type="datetimeFigureOut">
              <a:rPr lang="de-DE" smtClean="0"/>
              <a:t>01.01.2026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359932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942243-5FD6-495A-8306-BD7B3BE0C02D}" type="datetimeFigureOut">
              <a:rPr lang="de-DE" smtClean="0"/>
              <a:t>01.01.2026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864778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942243-5FD6-495A-8306-BD7B3BE0C02D}" type="datetimeFigureOut">
              <a:rPr lang="de-DE" smtClean="0"/>
              <a:t>01.01.2026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1904454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Date Placeholder 3"/>
          <p:cNvSpPr>
            <a:spLocks noGrp="1"/>
          </p:cNvSpPr>
          <p:nvPr>
            <p:ph type="dt" sz="half" idx="10"/>
          </p:nvPr>
        </p:nvSpPr>
        <p:spPr/>
        <p:txBody>
          <a:bodyPr/>
          <a:lstStyle/>
          <a:p>
            <a:fld id="{B9942243-5FD6-495A-8306-BD7B3BE0C02D}" type="datetimeFigureOut">
              <a:rPr lang="de-DE" smtClean="0"/>
              <a:t>01.01.2026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2459181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Date Placeholder 3"/>
          <p:cNvSpPr>
            <a:spLocks noGrp="1"/>
          </p:cNvSpPr>
          <p:nvPr>
            <p:ph type="dt" sz="half" idx="10"/>
          </p:nvPr>
        </p:nvSpPr>
        <p:spPr/>
        <p:txBody>
          <a:bodyPr/>
          <a:lstStyle/>
          <a:p>
            <a:fld id="{B9942243-5FD6-495A-8306-BD7B3BE0C02D}" type="datetimeFigureOut">
              <a:rPr lang="de-DE" smtClean="0"/>
              <a:t>01.01.2026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0A5A5A0-561E-44D6-9E61-2792BE405C20}" type="slidenum">
              <a:rPr lang="de-DE" smtClean="0"/>
              <a:t>‹Nr.›</a:t>
            </a:fld>
            <a:endParaRPr lang="de-DE"/>
          </a:p>
        </p:txBody>
      </p:sp>
    </p:spTree>
    <p:extLst>
      <p:ext uri="{BB962C8B-B14F-4D97-AF65-F5344CB8AC3E}">
        <p14:creationId xmlns:p14="http://schemas.microsoft.com/office/powerpoint/2010/main" val="70315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de-D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942243-5FD6-495A-8306-BD7B3BE0C02D}" type="datetimeFigureOut">
              <a:rPr lang="de-DE" smtClean="0"/>
              <a:t>01.01.2026</a:t>
            </a:fld>
            <a:endParaRPr lang="de-D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A5A5A0-561E-44D6-9E61-2792BE405C20}" type="slidenum">
              <a:rPr lang="de-DE" smtClean="0"/>
              <a:t>‹Nr.›</a:t>
            </a:fld>
            <a:endParaRPr lang="de-DE"/>
          </a:p>
        </p:txBody>
      </p:sp>
    </p:spTree>
    <p:extLst>
      <p:ext uri="{BB962C8B-B14F-4D97-AF65-F5344CB8AC3E}">
        <p14:creationId xmlns:p14="http://schemas.microsoft.com/office/powerpoint/2010/main" val="789360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1.emf"/><Relationship Id="rId5" Type="http://schemas.openxmlformats.org/officeDocument/2006/relationships/oleObject" Target="../embeddings/oleObject1.bin"/><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5.emf"/><Relationship Id="rId5" Type="http://schemas.openxmlformats.org/officeDocument/2006/relationships/oleObject" Target="../embeddings/oleObject2.bin"/><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23528" y="2492896"/>
            <a:ext cx="8496944" cy="3528392"/>
          </a:xfrm>
        </p:spPr>
        <p:txBody>
          <a:bodyPr>
            <a:normAutofit/>
          </a:bodyPr>
          <a:lstStyle/>
          <a:p>
            <a:r>
              <a:rPr lang="de-DE" sz="3000" b="1" u="sng" dirty="0" smtClean="0"/>
              <a:t>Abschlusspräsentation</a:t>
            </a:r>
            <a:br>
              <a:rPr lang="de-DE" sz="3000" b="1" u="sng" dirty="0" smtClean="0"/>
            </a:br>
            <a:r>
              <a:rPr lang="de-DE" sz="3000" b="1" u="sng" dirty="0" smtClean="0"/>
              <a:t>Portfolio Project</a:t>
            </a:r>
            <a:br>
              <a:rPr lang="de-DE" sz="3000" b="1" u="sng" dirty="0" smtClean="0"/>
            </a:br>
            <a:r>
              <a:rPr lang="de-DE" sz="3000" b="1" u="sng" dirty="0"/>
              <a:t/>
            </a:r>
            <a:br>
              <a:rPr lang="de-DE" sz="3000" b="1" u="sng" dirty="0"/>
            </a:br>
            <a:r>
              <a:rPr lang="de-DE" sz="3000" b="1" u="sng" dirty="0" smtClean="0"/>
              <a:t>Diabetes Dataset</a:t>
            </a:r>
            <a:r>
              <a:rPr lang="de-DE" sz="3000" b="1" dirty="0" smtClean="0"/>
              <a:t/>
            </a:r>
            <a:br>
              <a:rPr lang="de-DE" sz="3000" b="1" dirty="0" smtClean="0"/>
            </a:br>
            <a:r>
              <a:rPr lang="de-DE" sz="3000" b="1" dirty="0"/>
              <a:t/>
            </a:r>
            <a:br>
              <a:rPr lang="de-DE" sz="3000" b="1" dirty="0"/>
            </a:br>
            <a:r>
              <a:rPr lang="de-DE" sz="3000" b="1" dirty="0" smtClean="0"/>
              <a:t>Mohamad Yamen Nahhas</a:t>
            </a:r>
            <a:br>
              <a:rPr lang="de-DE" sz="3000" b="1" dirty="0" smtClean="0"/>
            </a:br>
            <a:r>
              <a:rPr lang="de-DE" sz="3000" b="1" dirty="0" smtClean="0"/>
              <a:t>Date: 19.12.2025</a:t>
            </a:r>
            <a:endParaRPr lang="de-DE" sz="3000" b="1" dirty="0"/>
          </a:p>
        </p:txBody>
      </p:sp>
      <p:pic>
        <p:nvPicPr>
          <p:cNvPr id="3" name="Grafik 2"/>
          <p:cNvPicPr>
            <a:picLocks noChangeAspect="1"/>
          </p:cNvPicPr>
          <p:nvPr/>
        </p:nvPicPr>
        <p:blipFill>
          <a:blip r:embed="rId3"/>
          <a:stretch>
            <a:fillRect/>
          </a:stretch>
        </p:blipFill>
        <p:spPr>
          <a:xfrm>
            <a:off x="298496" y="260648"/>
            <a:ext cx="1219200" cy="1028700"/>
          </a:xfrm>
          <a:prstGeom prst="rect">
            <a:avLst/>
          </a:prstGeom>
        </p:spPr>
      </p:pic>
      <p:pic>
        <p:nvPicPr>
          <p:cNvPr id="4" name="Grafik 3"/>
          <p:cNvPicPr>
            <a:picLocks noChangeAspect="1"/>
          </p:cNvPicPr>
          <p:nvPr/>
        </p:nvPicPr>
        <p:blipFill>
          <a:blip r:embed="rId4"/>
          <a:stretch>
            <a:fillRect/>
          </a:stretch>
        </p:blipFill>
        <p:spPr>
          <a:xfrm>
            <a:off x="0" y="-1447800"/>
            <a:ext cx="9144000" cy="8305800"/>
          </a:xfrm>
          <a:prstGeom prst="rect">
            <a:avLst/>
          </a:prstGeom>
        </p:spPr>
      </p:pic>
      <p:sp>
        <p:nvSpPr>
          <p:cNvPr id="5" name="Textfeld 4"/>
          <p:cNvSpPr txBox="1"/>
          <p:nvPr/>
        </p:nvSpPr>
        <p:spPr>
          <a:xfrm>
            <a:off x="1763688" y="2276872"/>
            <a:ext cx="6192688" cy="3970318"/>
          </a:xfrm>
          <a:prstGeom prst="rect">
            <a:avLst/>
          </a:prstGeom>
          <a:noFill/>
        </p:spPr>
        <p:txBody>
          <a:bodyPr wrap="square" rtlCol="0">
            <a:spAutoFit/>
          </a:bodyPr>
          <a:lstStyle/>
          <a:p>
            <a:pPr algn="ctr"/>
            <a:r>
              <a:rPr lang="de-DE" sz="2400" b="1" dirty="0" smtClean="0">
                <a:solidFill>
                  <a:srgbClr val="FFC000"/>
                </a:solidFill>
              </a:rPr>
              <a:t>Abschlusspräsentation</a:t>
            </a:r>
          </a:p>
          <a:p>
            <a:pPr algn="ctr"/>
            <a:r>
              <a:rPr lang="de-DE" sz="2400" b="1" dirty="0" smtClean="0">
                <a:solidFill>
                  <a:srgbClr val="FFC000"/>
                </a:solidFill>
              </a:rPr>
              <a:t>Portfolio Project</a:t>
            </a:r>
          </a:p>
          <a:p>
            <a:pPr algn="ctr"/>
            <a:r>
              <a:rPr lang="de-DE" sz="2400" b="1" dirty="0" err="1" smtClean="0">
                <a:solidFill>
                  <a:srgbClr val="FFC000"/>
                </a:solidFill>
              </a:rPr>
              <a:t>Stackfuel</a:t>
            </a:r>
            <a:endParaRPr lang="de-DE" sz="2400" b="1" dirty="0" smtClean="0">
              <a:solidFill>
                <a:srgbClr val="FFC000"/>
              </a:solidFill>
            </a:endParaRPr>
          </a:p>
          <a:p>
            <a:pPr algn="ctr"/>
            <a:endParaRPr lang="de-DE" sz="2400" b="1" dirty="0" smtClean="0">
              <a:solidFill>
                <a:srgbClr val="FFC000"/>
              </a:solidFill>
            </a:endParaRPr>
          </a:p>
          <a:p>
            <a:pPr algn="ctr"/>
            <a:endParaRPr lang="de-DE" sz="2400" b="1" dirty="0">
              <a:solidFill>
                <a:srgbClr val="FFC000"/>
              </a:solidFill>
            </a:endParaRPr>
          </a:p>
          <a:p>
            <a:pPr algn="ctr"/>
            <a:r>
              <a:rPr lang="de-DE" sz="2400" b="1" dirty="0" smtClean="0">
                <a:solidFill>
                  <a:srgbClr val="FFC000"/>
                </a:solidFill>
              </a:rPr>
              <a:t>Diabetes Dataset</a:t>
            </a:r>
          </a:p>
          <a:p>
            <a:pPr algn="ctr"/>
            <a:endParaRPr lang="de-DE" sz="2400" b="1" dirty="0">
              <a:solidFill>
                <a:srgbClr val="FFC000"/>
              </a:solidFill>
            </a:endParaRPr>
          </a:p>
          <a:p>
            <a:pPr algn="ctr"/>
            <a:r>
              <a:rPr lang="de-DE" sz="2400" b="1" dirty="0" smtClean="0">
                <a:solidFill>
                  <a:srgbClr val="FFC000"/>
                </a:solidFill>
              </a:rPr>
              <a:t>Mohamad Yamen Nahhas</a:t>
            </a:r>
          </a:p>
          <a:p>
            <a:pPr algn="ctr"/>
            <a:r>
              <a:rPr lang="de-DE" sz="2400" b="1" dirty="0" smtClean="0">
                <a:solidFill>
                  <a:srgbClr val="FFC000"/>
                </a:solidFill>
              </a:rPr>
              <a:t>19.12.2025</a:t>
            </a:r>
          </a:p>
          <a:p>
            <a:endParaRPr lang="de-DE" dirty="0"/>
          </a:p>
          <a:p>
            <a:endParaRPr lang="de-DE" dirty="0"/>
          </a:p>
        </p:txBody>
      </p:sp>
    </p:spTree>
    <p:extLst>
      <p:ext uri="{BB962C8B-B14F-4D97-AF65-F5344CB8AC3E}">
        <p14:creationId xmlns:p14="http://schemas.microsoft.com/office/powerpoint/2010/main" val="32193177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166" y="1268760"/>
            <a:ext cx="8208911" cy="792088"/>
          </a:xfrm>
        </p:spPr>
        <p:txBody>
          <a:bodyPr>
            <a:noAutofit/>
          </a:bodyPr>
          <a:lstStyle/>
          <a:p>
            <a:pPr lvl="0" algn="l"/>
            <a:r>
              <a:rPr lang="de-DE" sz="2400" b="1" dirty="0" smtClean="0"/>
              <a:t>Überblick über Diabetes</a:t>
            </a:r>
            <a:endParaRPr lang="de-DE" sz="2400" b="1" dirty="0"/>
          </a:p>
        </p:txBody>
      </p:sp>
      <p:sp>
        <p:nvSpPr>
          <p:cNvPr id="7" name="Textfeld 6"/>
          <p:cNvSpPr txBox="1"/>
          <p:nvPr/>
        </p:nvSpPr>
        <p:spPr>
          <a:xfrm>
            <a:off x="352382" y="2116751"/>
            <a:ext cx="8352927" cy="5047536"/>
          </a:xfrm>
          <a:prstGeom prst="rect">
            <a:avLst/>
          </a:prstGeom>
          <a:noFill/>
        </p:spPr>
        <p:txBody>
          <a:bodyPr wrap="square" rtlCol="0">
            <a:spAutoFit/>
          </a:bodyPr>
          <a:lstStyle/>
          <a:p>
            <a:r>
              <a:rPr lang="de-DE" sz="1400" b="1" dirty="0" smtClean="0"/>
              <a:t>Diabetes</a:t>
            </a:r>
            <a:r>
              <a:rPr lang="de-DE" sz="1400" dirty="0" smtClean="0"/>
              <a:t> ist </a:t>
            </a:r>
            <a:r>
              <a:rPr lang="de-DE" sz="1400" dirty="0"/>
              <a:t>eine chronische </a:t>
            </a:r>
            <a:r>
              <a:rPr lang="de-DE" sz="1400" dirty="0" smtClean="0"/>
              <a:t>Stoffwechselerkrankung. </a:t>
            </a:r>
            <a:r>
              <a:rPr lang="de-DE" sz="1400" dirty="0"/>
              <a:t>Diese Erkrankung tritt auf, weil entweder das Hormon Insulin, das Glukose aus der Blutbahn in die Zellen transportiert, nicht ausreichend produziert wird oder weil die Zellen unempfindlich gegen dessen Wirkung sind (Insulinresistenz). In beiden Fällen resultiert daraus ein erhöhter Blutzuckerspiegel (Hyperglykämie</a:t>
            </a:r>
            <a:r>
              <a:rPr lang="de-DE" sz="1400" dirty="0" smtClean="0"/>
              <a:t>).</a:t>
            </a:r>
          </a:p>
          <a:p>
            <a:r>
              <a:rPr lang="de-DE" sz="1400" b="1" dirty="0" smtClean="0"/>
              <a:t>Prädiabetes</a:t>
            </a:r>
            <a:r>
              <a:rPr lang="de-DE" sz="1400" dirty="0" smtClean="0"/>
              <a:t> </a:t>
            </a:r>
            <a:r>
              <a:rPr lang="de-DE" sz="1400" dirty="0"/>
              <a:t>ist die Vorstufe von Typ-2-Diabetes. Die Blutzuckerwerte sind bereits erhöht, allerdings noch nicht so hoch, um von einem Typ-2-Diabetes zu </a:t>
            </a:r>
            <a:r>
              <a:rPr lang="de-DE" sz="1400" dirty="0" smtClean="0"/>
              <a:t>sprechen(ohne </a:t>
            </a:r>
            <a:r>
              <a:rPr lang="de-DE" sz="1400" dirty="0"/>
              <a:t>B</a:t>
            </a:r>
            <a:r>
              <a:rPr lang="de-DE" sz="1400" dirty="0" smtClean="0"/>
              <a:t>egleitsymptome).</a:t>
            </a:r>
            <a:endParaRPr lang="de-DE" sz="1400" dirty="0"/>
          </a:p>
          <a:p>
            <a:r>
              <a:rPr lang="de-DE" dirty="0"/>
              <a:t/>
            </a:r>
            <a:br>
              <a:rPr lang="de-DE" dirty="0"/>
            </a:br>
            <a:endParaRPr lang="de-DE" dirty="0"/>
          </a:p>
          <a:p>
            <a:endParaRPr lang="de-DE" sz="1400" dirty="0" smtClean="0"/>
          </a:p>
          <a:p>
            <a:endParaRPr lang="de-DE" sz="1400" b="1" dirty="0"/>
          </a:p>
          <a:p>
            <a:endParaRPr lang="de-DE" sz="1400" b="1" dirty="0" smtClean="0"/>
          </a:p>
          <a:p>
            <a:endParaRPr lang="de-DE" dirty="0"/>
          </a:p>
          <a:p>
            <a:endParaRPr lang="de-DE" dirty="0"/>
          </a:p>
          <a:p>
            <a:endParaRPr lang="de-DE" sz="1600" dirty="0"/>
          </a:p>
          <a:p>
            <a:endParaRPr lang="de-DE" sz="1600" dirty="0"/>
          </a:p>
          <a:p>
            <a:r>
              <a:rPr lang="en-US" dirty="0" smtClean="0"/>
              <a:t> </a:t>
            </a:r>
          </a:p>
          <a:p>
            <a:r>
              <a:rPr lang="de-DE" sz="1400" dirty="0" smtClean="0"/>
              <a:t>Wichtige </a:t>
            </a:r>
            <a:r>
              <a:rPr lang="de-DE" sz="1400" dirty="0"/>
              <a:t>Indikatoren für die </a:t>
            </a:r>
            <a:r>
              <a:rPr lang="de-DE" sz="1400" dirty="0" err="1"/>
              <a:t>diagnose</a:t>
            </a:r>
            <a:r>
              <a:rPr lang="de-DE" sz="1400" dirty="0"/>
              <a:t> von Diabetes: </a:t>
            </a:r>
            <a:r>
              <a:rPr lang="de-DE" sz="1400" b="1" dirty="0"/>
              <a:t>hba1c,</a:t>
            </a:r>
            <a:r>
              <a:rPr lang="de-DE" sz="1400" dirty="0"/>
              <a:t> </a:t>
            </a:r>
            <a:r>
              <a:rPr lang="de-DE" sz="1400" b="1" dirty="0" err="1"/>
              <a:t>Nüchternblutzucker</a:t>
            </a:r>
            <a:r>
              <a:rPr lang="de-DE" sz="1400" b="1" dirty="0"/>
              <a:t>,</a:t>
            </a:r>
            <a:r>
              <a:rPr lang="de-DE" sz="1400" dirty="0"/>
              <a:t> </a:t>
            </a:r>
            <a:r>
              <a:rPr lang="de-DE" sz="1400" b="1" dirty="0"/>
              <a:t>Glukosetoleranztest</a:t>
            </a:r>
          </a:p>
          <a:p>
            <a:endParaRPr lang="de-DE" b="1" dirty="0"/>
          </a:p>
          <a:p>
            <a:endParaRPr lang="de-DE" dirty="0"/>
          </a:p>
          <a:p>
            <a:endParaRPr lang="en-US" sz="2400" dirty="0"/>
          </a:p>
        </p:txBody>
      </p:sp>
      <p:pic>
        <p:nvPicPr>
          <p:cNvPr id="4" name="Grafik 3"/>
          <p:cNvPicPr>
            <a:picLocks noChangeAspect="1"/>
          </p:cNvPicPr>
          <p:nvPr/>
        </p:nvPicPr>
        <p:blipFill>
          <a:blip r:embed="rId3"/>
          <a:stretch>
            <a:fillRect/>
          </a:stretch>
        </p:blipFill>
        <p:spPr>
          <a:xfrm>
            <a:off x="251520" y="188640"/>
            <a:ext cx="1219306" cy="1024217"/>
          </a:xfrm>
          <a:prstGeom prst="rect">
            <a:avLst/>
          </a:prstGeom>
        </p:spPr>
      </p:pic>
      <p:sp>
        <p:nvSpPr>
          <p:cNvPr id="3" name="Diagonal liegende Ecken des Rechtecks abrunden 2"/>
          <p:cNvSpPr/>
          <p:nvPr/>
        </p:nvSpPr>
        <p:spPr>
          <a:xfrm>
            <a:off x="3203848" y="3727061"/>
            <a:ext cx="1872208" cy="28803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smtClean="0"/>
              <a:t>Typen der Diabetes</a:t>
            </a:r>
            <a:endParaRPr lang="de-DE" sz="1200" b="1" dirty="0"/>
          </a:p>
        </p:txBody>
      </p:sp>
      <p:sp>
        <p:nvSpPr>
          <p:cNvPr id="6" name="Diagonal liegende Ecken des Rechtecks abrunden 5"/>
          <p:cNvSpPr/>
          <p:nvPr/>
        </p:nvSpPr>
        <p:spPr>
          <a:xfrm>
            <a:off x="352382" y="5250226"/>
            <a:ext cx="1987370" cy="396204"/>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smtClean="0"/>
              <a:t>Diabetes </a:t>
            </a:r>
            <a:r>
              <a:rPr lang="de-DE" sz="1200" b="1" dirty="0" err="1" smtClean="0"/>
              <a:t>melitus</a:t>
            </a:r>
            <a:r>
              <a:rPr lang="de-DE" sz="1200" b="1" dirty="0" smtClean="0"/>
              <a:t> Type 2</a:t>
            </a:r>
            <a:endParaRPr lang="de-DE" sz="1200" b="1" dirty="0"/>
          </a:p>
        </p:txBody>
      </p:sp>
      <p:sp>
        <p:nvSpPr>
          <p:cNvPr id="8" name="Diagonal liegende Ecken des Rechtecks abrunden 7"/>
          <p:cNvSpPr/>
          <p:nvPr/>
        </p:nvSpPr>
        <p:spPr>
          <a:xfrm>
            <a:off x="3131840" y="5248833"/>
            <a:ext cx="1735343" cy="396204"/>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b="1" dirty="0" smtClean="0"/>
          </a:p>
          <a:p>
            <a:pPr algn="ctr"/>
            <a:r>
              <a:rPr lang="de-DE" sz="1200" b="1" dirty="0" smtClean="0"/>
              <a:t>Diabetes </a:t>
            </a:r>
            <a:r>
              <a:rPr lang="de-DE" sz="1200" b="1" dirty="0" err="1"/>
              <a:t>melitus</a:t>
            </a:r>
            <a:r>
              <a:rPr lang="de-DE" sz="1200" b="1" dirty="0"/>
              <a:t> Type </a:t>
            </a:r>
            <a:r>
              <a:rPr lang="de-DE" sz="1200" b="1" dirty="0" smtClean="0"/>
              <a:t>1</a:t>
            </a:r>
            <a:endParaRPr lang="de-DE" sz="1200" b="1" dirty="0"/>
          </a:p>
          <a:p>
            <a:pPr algn="ctr"/>
            <a:endParaRPr lang="de-DE" sz="1200" b="1" dirty="0"/>
          </a:p>
        </p:txBody>
      </p:sp>
      <p:pic>
        <p:nvPicPr>
          <p:cNvPr id="11" name="Grafik 10"/>
          <p:cNvPicPr>
            <a:picLocks noChangeAspect="1"/>
          </p:cNvPicPr>
          <p:nvPr/>
        </p:nvPicPr>
        <p:blipFill>
          <a:blip r:embed="rId4"/>
          <a:stretch>
            <a:fillRect/>
          </a:stretch>
        </p:blipFill>
        <p:spPr>
          <a:xfrm>
            <a:off x="5676964" y="5253126"/>
            <a:ext cx="1654066" cy="420660"/>
          </a:xfrm>
          <a:prstGeom prst="rect">
            <a:avLst/>
          </a:prstGeom>
        </p:spPr>
      </p:pic>
      <p:sp>
        <p:nvSpPr>
          <p:cNvPr id="12" name="Textfeld 11"/>
          <p:cNvSpPr txBox="1"/>
          <p:nvPr/>
        </p:nvSpPr>
        <p:spPr>
          <a:xfrm>
            <a:off x="5672490" y="5324956"/>
            <a:ext cx="1584176" cy="276999"/>
          </a:xfrm>
          <a:prstGeom prst="rect">
            <a:avLst/>
          </a:prstGeom>
          <a:noFill/>
        </p:spPr>
        <p:txBody>
          <a:bodyPr wrap="square" rtlCol="0">
            <a:spAutoFit/>
          </a:bodyPr>
          <a:lstStyle/>
          <a:p>
            <a:pPr algn="r"/>
            <a:r>
              <a:rPr lang="de-DE" sz="1200" b="1" dirty="0" err="1" smtClean="0">
                <a:solidFill>
                  <a:schemeClr val="bg1"/>
                </a:solidFill>
              </a:rPr>
              <a:t>Gestationsdiabetes</a:t>
            </a:r>
            <a:endParaRPr lang="de-DE" sz="1200" b="1" dirty="0">
              <a:solidFill>
                <a:schemeClr val="bg1"/>
              </a:solidFill>
            </a:endParaRPr>
          </a:p>
        </p:txBody>
      </p:sp>
      <p:cxnSp>
        <p:nvCxnSpPr>
          <p:cNvPr id="14" name="Gerade Verbindung mit Pfeil 13"/>
          <p:cNvCxnSpPr>
            <a:stCxn id="3" idx="1"/>
          </p:cNvCxnSpPr>
          <p:nvPr/>
        </p:nvCxnSpPr>
        <p:spPr>
          <a:xfrm flipH="1">
            <a:off x="1547664" y="4015093"/>
            <a:ext cx="2592288" cy="1233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p:cNvCxnSpPr/>
          <p:nvPr/>
        </p:nvCxnSpPr>
        <p:spPr>
          <a:xfrm>
            <a:off x="4139952" y="4015093"/>
            <a:ext cx="0" cy="1233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a:stCxn id="3" idx="1"/>
            <a:endCxn id="11" idx="0"/>
          </p:cNvCxnSpPr>
          <p:nvPr/>
        </p:nvCxnSpPr>
        <p:spPr>
          <a:xfrm>
            <a:off x="4139952" y="4015093"/>
            <a:ext cx="2364045" cy="1238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3855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otched Right Arrow 3"/>
          <p:cNvSpPr/>
          <p:nvPr/>
        </p:nvSpPr>
        <p:spPr>
          <a:xfrm>
            <a:off x="1055000" y="2492896"/>
            <a:ext cx="6984776" cy="1728192"/>
          </a:xfrm>
          <a:prstGeom prst="notched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Notched Right Arrow 5"/>
          <p:cNvSpPr/>
          <p:nvPr/>
        </p:nvSpPr>
        <p:spPr>
          <a:xfrm rot="10800000">
            <a:off x="1055000" y="4725144"/>
            <a:ext cx="6984776" cy="1728192"/>
          </a:xfrm>
          <a:prstGeom prst="notched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Box 7"/>
          <p:cNvSpPr txBox="1"/>
          <p:nvPr/>
        </p:nvSpPr>
        <p:spPr>
          <a:xfrm>
            <a:off x="1907704" y="3079993"/>
            <a:ext cx="5112568" cy="553998"/>
          </a:xfrm>
          <a:prstGeom prst="rect">
            <a:avLst/>
          </a:prstGeom>
          <a:noFill/>
        </p:spPr>
        <p:txBody>
          <a:bodyPr wrap="square" rtlCol="0">
            <a:spAutoFit/>
          </a:bodyPr>
          <a:lstStyle/>
          <a:p>
            <a:pPr algn="ctr"/>
            <a:r>
              <a:rPr lang="de-DE" sz="3000" dirty="0" smtClean="0"/>
              <a:t>Ziele</a:t>
            </a:r>
            <a:endParaRPr lang="de-DE" sz="3000" dirty="0"/>
          </a:p>
        </p:txBody>
      </p:sp>
      <p:sp>
        <p:nvSpPr>
          <p:cNvPr id="9" name="TextBox 8"/>
          <p:cNvSpPr txBox="1"/>
          <p:nvPr/>
        </p:nvSpPr>
        <p:spPr>
          <a:xfrm>
            <a:off x="2771800" y="5312241"/>
            <a:ext cx="3240360" cy="553998"/>
          </a:xfrm>
          <a:prstGeom prst="rect">
            <a:avLst/>
          </a:prstGeom>
          <a:noFill/>
        </p:spPr>
        <p:txBody>
          <a:bodyPr wrap="square" rtlCol="0">
            <a:spAutoFit/>
          </a:bodyPr>
          <a:lstStyle/>
          <a:p>
            <a:pPr algn="ctr"/>
            <a:r>
              <a:rPr lang="de-DE" sz="3000" dirty="0" smtClean="0"/>
              <a:t>Herausforderungen</a:t>
            </a:r>
            <a:endParaRPr lang="de-DE" sz="3000" dirty="0"/>
          </a:p>
        </p:txBody>
      </p:sp>
      <p:sp>
        <p:nvSpPr>
          <p:cNvPr id="3" name="Textfeld 2"/>
          <p:cNvSpPr txBox="1"/>
          <p:nvPr/>
        </p:nvSpPr>
        <p:spPr>
          <a:xfrm>
            <a:off x="1054999" y="1412776"/>
            <a:ext cx="7117401" cy="461665"/>
          </a:xfrm>
          <a:prstGeom prst="rect">
            <a:avLst/>
          </a:prstGeom>
          <a:noFill/>
        </p:spPr>
        <p:txBody>
          <a:bodyPr wrap="square" rtlCol="0">
            <a:spAutoFit/>
          </a:bodyPr>
          <a:lstStyle/>
          <a:p>
            <a:pPr algn="ctr"/>
            <a:r>
              <a:rPr lang="en-US" sz="2400" b="1" dirty="0" smtClean="0">
                <a:latin typeface="Arial" panose="020B0604020202020204" pitchFamily="34" charset="0"/>
                <a:cs typeface="Arial" panose="020B0604020202020204" pitchFamily="34" charset="0"/>
              </a:rPr>
              <a:t>Data </a:t>
            </a:r>
            <a:r>
              <a:rPr lang="en-US" sz="2400" b="1" dirty="0" err="1" smtClean="0">
                <a:latin typeface="Arial" panose="020B0604020202020204" pitchFamily="34" charset="0"/>
                <a:cs typeface="Arial" panose="020B0604020202020204" pitchFamily="34" charset="0"/>
              </a:rPr>
              <a:t>Analyse</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bei</a:t>
            </a:r>
            <a:r>
              <a:rPr lang="en-US" sz="2400" b="1" dirty="0" smtClean="0">
                <a:latin typeface="Arial" panose="020B0604020202020204" pitchFamily="34" charset="0"/>
                <a:cs typeface="Arial" panose="020B0604020202020204" pitchFamily="34" charset="0"/>
              </a:rPr>
              <a:t> Diabetes dataset</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13636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166" y="1268760"/>
            <a:ext cx="8208911" cy="792088"/>
          </a:xfrm>
        </p:spPr>
        <p:txBody>
          <a:bodyPr>
            <a:noAutofit/>
          </a:bodyPr>
          <a:lstStyle/>
          <a:p>
            <a:pPr lvl="0"/>
            <a:r>
              <a:rPr lang="en-US" sz="2400" b="1" dirty="0" err="1" smtClean="0">
                <a:solidFill>
                  <a:srgbClr val="333333"/>
                </a:solidFill>
                <a:latin typeface="Arial"/>
              </a:rPr>
              <a:t>Ziel</a:t>
            </a:r>
            <a:r>
              <a:rPr lang="en-US" sz="2400" b="1" dirty="0" smtClean="0">
                <a:solidFill>
                  <a:srgbClr val="333333"/>
                </a:solidFill>
                <a:latin typeface="Arial"/>
              </a:rPr>
              <a:t> und </a:t>
            </a:r>
            <a:r>
              <a:rPr lang="en-US" sz="2400" b="1" dirty="0" err="1" smtClean="0">
                <a:solidFill>
                  <a:srgbClr val="333333"/>
                </a:solidFill>
                <a:latin typeface="Arial"/>
              </a:rPr>
              <a:t>Herausforderung</a:t>
            </a:r>
            <a:r>
              <a:rPr lang="en-US" sz="2400" b="1" dirty="0" smtClean="0">
                <a:solidFill>
                  <a:srgbClr val="333333"/>
                </a:solidFill>
                <a:latin typeface="Arial"/>
              </a:rPr>
              <a:t> </a:t>
            </a:r>
            <a:r>
              <a:rPr lang="en-US" sz="2400" b="1" dirty="0" err="1" smtClean="0">
                <a:solidFill>
                  <a:srgbClr val="333333"/>
                </a:solidFill>
                <a:latin typeface="Arial"/>
              </a:rPr>
              <a:t>bei</a:t>
            </a:r>
            <a:r>
              <a:rPr lang="en-US" sz="2400" b="1" dirty="0" smtClean="0">
                <a:solidFill>
                  <a:srgbClr val="333333"/>
                </a:solidFill>
                <a:latin typeface="Arial"/>
              </a:rPr>
              <a:t> der </a:t>
            </a:r>
            <a:r>
              <a:rPr lang="en-US" sz="2400" b="1" dirty="0" err="1" smtClean="0">
                <a:solidFill>
                  <a:srgbClr val="333333"/>
                </a:solidFill>
                <a:latin typeface="Arial"/>
              </a:rPr>
              <a:t>Analyse</a:t>
            </a:r>
            <a:r>
              <a:rPr lang="en-US" sz="2400" b="1" dirty="0" smtClean="0">
                <a:solidFill>
                  <a:srgbClr val="333333"/>
                </a:solidFill>
                <a:latin typeface="Arial"/>
              </a:rPr>
              <a:t> von Diabetes Dataset</a:t>
            </a:r>
            <a:endParaRPr lang="de-DE" sz="2400" b="1" dirty="0"/>
          </a:p>
        </p:txBody>
      </p:sp>
      <p:sp>
        <p:nvSpPr>
          <p:cNvPr id="7" name="Textfeld 6"/>
          <p:cNvSpPr txBox="1"/>
          <p:nvPr/>
        </p:nvSpPr>
        <p:spPr>
          <a:xfrm>
            <a:off x="350150" y="2564904"/>
            <a:ext cx="8352927" cy="3046988"/>
          </a:xfrm>
          <a:prstGeom prst="rect">
            <a:avLst/>
          </a:prstGeom>
          <a:noFill/>
        </p:spPr>
        <p:txBody>
          <a:bodyPr wrap="square" rtlCol="0" anchor="t">
            <a:spAutoFit/>
          </a:bodyPr>
          <a:lstStyle/>
          <a:p>
            <a:r>
              <a:rPr lang="de-DE" sz="1600" dirty="0"/>
              <a:t>Diabetes ist hochgradig heterogen. Patienten mit gleicher Diagnose zeigen sehr unterschiedliche metabolische Profile. Klassische Grenzwerte (z. B. HbA1c ≥ 6.5 %) erfassen diese Heterogenität nur unzureichend. Therapieeffekte senken Biomarker, Diagnose bleibt bestehen.</a:t>
            </a:r>
          </a:p>
          <a:p>
            <a:endParaRPr lang="de-DE" sz="1600" dirty="0"/>
          </a:p>
          <a:p>
            <a:r>
              <a:rPr lang="de-DE" sz="1600" b="1" dirty="0" smtClean="0"/>
              <a:t>Ziel:</a:t>
            </a:r>
          </a:p>
          <a:p>
            <a:r>
              <a:rPr lang="de-DE" sz="1600" dirty="0"/>
              <a:t>Besser Verständnis von Risikofaktoren. Tieferes Verständnis der metabolischen Heterogenität von Diabetes und ergänzt klassische medizinische Grenzwerte durch </a:t>
            </a:r>
            <a:r>
              <a:rPr lang="de-DE" sz="1600" dirty="0" err="1"/>
              <a:t>probabilistische</a:t>
            </a:r>
            <a:r>
              <a:rPr lang="de-DE" sz="1600" dirty="0"/>
              <a:t> </a:t>
            </a:r>
            <a:r>
              <a:rPr lang="de-DE" sz="1600" dirty="0" smtClean="0"/>
              <a:t>Erkenntnisse</a:t>
            </a:r>
            <a:r>
              <a:rPr lang="de-DE" sz="1600" dirty="0"/>
              <a:t>.</a:t>
            </a:r>
          </a:p>
          <a:p>
            <a:endParaRPr lang="de-DE" sz="1600" dirty="0" smtClean="0"/>
          </a:p>
          <a:p>
            <a:r>
              <a:rPr lang="de-DE" sz="1600" b="1" dirty="0" smtClean="0"/>
              <a:t>Herausforderungen:</a:t>
            </a:r>
          </a:p>
          <a:p>
            <a:pPr marL="285750" indent="-285750">
              <a:buFont typeface="Wingdings" panose="05000000000000000000" pitchFamily="2" charset="2"/>
              <a:buChar char="§"/>
            </a:pPr>
            <a:r>
              <a:rPr lang="de-DE" sz="1600" dirty="0" err="1" smtClean="0"/>
              <a:t>Unausreichende</a:t>
            </a:r>
            <a:r>
              <a:rPr lang="de-DE" sz="1600" dirty="0" smtClean="0"/>
              <a:t> Data an manche Stellen was macht die Interpretation unmöglich</a:t>
            </a:r>
          </a:p>
          <a:p>
            <a:pPr marL="285750" indent="-285750">
              <a:buFont typeface="Wingdings" panose="05000000000000000000" pitchFamily="2" charset="2"/>
              <a:buChar char="§"/>
            </a:pPr>
            <a:r>
              <a:rPr lang="de-DE" sz="1600" dirty="0" smtClean="0"/>
              <a:t>Fehlende </a:t>
            </a:r>
            <a:r>
              <a:rPr lang="de-DE" sz="1600" dirty="0"/>
              <a:t>Details für einige Spalten, die für eine realistische und genaue Analyse wichtig sind</a:t>
            </a:r>
            <a:r>
              <a:rPr lang="en-US" sz="1600" dirty="0" smtClean="0"/>
              <a:t> </a:t>
            </a:r>
            <a:endParaRPr lang="de-DE" sz="1600" dirty="0"/>
          </a:p>
          <a:p>
            <a:endParaRPr lang="en-US" sz="1600" dirty="0"/>
          </a:p>
        </p:txBody>
      </p:sp>
      <p:pic>
        <p:nvPicPr>
          <p:cNvPr id="4" name="Grafik 3"/>
          <p:cNvPicPr>
            <a:picLocks noChangeAspect="1"/>
          </p:cNvPicPr>
          <p:nvPr/>
        </p:nvPicPr>
        <p:blipFill>
          <a:blip r:embed="rId3"/>
          <a:stretch>
            <a:fillRect/>
          </a:stretch>
        </p:blipFill>
        <p:spPr>
          <a:xfrm>
            <a:off x="251520" y="188640"/>
            <a:ext cx="1219306" cy="1024217"/>
          </a:xfrm>
          <a:prstGeom prst="rect">
            <a:avLst/>
          </a:prstGeom>
        </p:spPr>
      </p:pic>
    </p:spTree>
    <p:extLst>
      <p:ext uri="{BB962C8B-B14F-4D97-AF65-F5344CB8AC3E}">
        <p14:creationId xmlns:p14="http://schemas.microsoft.com/office/powerpoint/2010/main" val="27310669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166" y="1268760"/>
            <a:ext cx="8208911" cy="792088"/>
          </a:xfrm>
        </p:spPr>
        <p:txBody>
          <a:bodyPr>
            <a:noAutofit/>
          </a:bodyPr>
          <a:lstStyle/>
          <a:p>
            <a:pPr lvl="0" algn="l"/>
            <a:r>
              <a:rPr lang="en-US" sz="2400" b="1" dirty="0" err="1" smtClean="0">
                <a:solidFill>
                  <a:srgbClr val="333333"/>
                </a:solidFill>
                <a:latin typeface="Arial"/>
              </a:rPr>
              <a:t>Informationen</a:t>
            </a:r>
            <a:r>
              <a:rPr lang="en-US" sz="2400" b="1" dirty="0" smtClean="0">
                <a:solidFill>
                  <a:srgbClr val="333333"/>
                </a:solidFill>
                <a:latin typeface="Arial"/>
              </a:rPr>
              <a:t> </a:t>
            </a:r>
            <a:r>
              <a:rPr lang="en-US" sz="2400" b="1" dirty="0" err="1" smtClean="0">
                <a:solidFill>
                  <a:srgbClr val="333333"/>
                </a:solidFill>
                <a:latin typeface="Arial"/>
              </a:rPr>
              <a:t>über</a:t>
            </a:r>
            <a:r>
              <a:rPr lang="en-US" sz="2400" b="1" dirty="0" smtClean="0">
                <a:solidFill>
                  <a:srgbClr val="333333"/>
                </a:solidFill>
                <a:latin typeface="Arial"/>
              </a:rPr>
              <a:t> Dataset</a:t>
            </a:r>
            <a:endParaRPr lang="de-DE" sz="2400" b="1" dirty="0"/>
          </a:p>
        </p:txBody>
      </p:sp>
      <p:sp>
        <p:nvSpPr>
          <p:cNvPr id="7" name="Textfeld 6"/>
          <p:cNvSpPr txBox="1"/>
          <p:nvPr/>
        </p:nvSpPr>
        <p:spPr>
          <a:xfrm>
            <a:off x="352382" y="2116751"/>
            <a:ext cx="8352927" cy="6032421"/>
          </a:xfrm>
          <a:prstGeom prst="rect">
            <a:avLst/>
          </a:prstGeom>
          <a:noFill/>
        </p:spPr>
        <p:txBody>
          <a:bodyPr wrap="square" rtlCol="0">
            <a:spAutoFit/>
          </a:bodyPr>
          <a:lstStyle/>
          <a:p>
            <a:r>
              <a:rPr lang="de-DE" sz="1400" b="1" dirty="0" smtClean="0"/>
              <a:t>Dataset:</a:t>
            </a:r>
            <a:r>
              <a:rPr lang="de-DE" sz="1400" dirty="0" smtClean="0"/>
              <a:t> </a:t>
            </a:r>
            <a:r>
              <a:rPr lang="de-DE" sz="1400" dirty="0" err="1"/>
              <a:t>diabetes</a:t>
            </a:r>
            <a:r>
              <a:rPr lang="de-DE" sz="1400" dirty="0"/>
              <a:t> </a:t>
            </a:r>
            <a:r>
              <a:rPr lang="de-DE" sz="1400" dirty="0" err="1"/>
              <a:t>dataset</a:t>
            </a:r>
            <a:r>
              <a:rPr lang="de-DE" sz="1400" dirty="0"/>
              <a:t> von </a:t>
            </a:r>
            <a:r>
              <a:rPr lang="de-DE" sz="1400" dirty="0" err="1" smtClean="0"/>
              <a:t>kaggle</a:t>
            </a:r>
            <a:r>
              <a:rPr lang="de-DE" sz="1400" dirty="0" smtClean="0"/>
              <a:t> mit </a:t>
            </a:r>
            <a:r>
              <a:rPr lang="de-DE" sz="1400" b="1" dirty="0" smtClean="0"/>
              <a:t>100.000 </a:t>
            </a:r>
            <a:r>
              <a:rPr lang="de-DE" sz="1400" b="1" dirty="0"/>
              <a:t>Zeilen </a:t>
            </a:r>
            <a:r>
              <a:rPr lang="de-DE" sz="1400" dirty="0"/>
              <a:t>und </a:t>
            </a:r>
            <a:r>
              <a:rPr lang="de-DE" sz="1400" b="1" dirty="0"/>
              <a:t>32 </a:t>
            </a:r>
            <a:r>
              <a:rPr lang="de-DE" sz="1400" b="1" dirty="0" smtClean="0"/>
              <a:t>Spalten</a:t>
            </a:r>
            <a:r>
              <a:rPr lang="de-DE" sz="1400" dirty="0" smtClean="0"/>
              <a:t>.</a:t>
            </a:r>
          </a:p>
          <a:p>
            <a:endParaRPr lang="de-DE" sz="1400" dirty="0"/>
          </a:p>
          <a:p>
            <a:r>
              <a:rPr lang="de-DE" sz="1400" b="1" dirty="0" smtClean="0"/>
              <a:t>Zielvariablen:</a:t>
            </a:r>
          </a:p>
          <a:p>
            <a:r>
              <a:rPr lang="de-DE" sz="1400" b="1" dirty="0" err="1"/>
              <a:t>d</a:t>
            </a:r>
            <a:r>
              <a:rPr lang="de-DE" sz="1400" b="1" dirty="0" err="1" smtClean="0"/>
              <a:t>iagnosed_diabetes</a:t>
            </a:r>
            <a:r>
              <a:rPr lang="de-DE" sz="1400" b="1" dirty="0" smtClean="0"/>
              <a:t>:</a:t>
            </a:r>
            <a:r>
              <a:rPr lang="de-DE" sz="1400" dirty="0" smtClean="0"/>
              <a:t> </a:t>
            </a:r>
            <a:r>
              <a:rPr lang="de-DE" sz="1400" dirty="0"/>
              <a:t>B</a:t>
            </a:r>
            <a:r>
              <a:rPr lang="de-DE" sz="1400" dirty="0" smtClean="0"/>
              <a:t>inäre Spalte (0, 1)</a:t>
            </a:r>
          </a:p>
          <a:p>
            <a:r>
              <a:rPr lang="de-DE" sz="1400" b="1" dirty="0" err="1"/>
              <a:t>d</a:t>
            </a:r>
            <a:r>
              <a:rPr lang="de-DE" sz="1400" b="1" dirty="0" err="1" smtClean="0"/>
              <a:t>iabetes_stage</a:t>
            </a:r>
            <a:r>
              <a:rPr lang="de-DE" sz="1400" b="1" dirty="0" smtClean="0"/>
              <a:t>:</a:t>
            </a:r>
            <a:r>
              <a:rPr lang="de-DE" sz="1400" dirty="0" smtClean="0"/>
              <a:t> </a:t>
            </a:r>
            <a:r>
              <a:rPr lang="pt-BR" sz="1400" dirty="0"/>
              <a:t>'Type 2', 'No Diabetes', 'Pre-Diabetes', 'Gestational', 'Type </a:t>
            </a:r>
            <a:r>
              <a:rPr lang="pt-BR" sz="1400" dirty="0" smtClean="0"/>
              <a:t>1‘</a:t>
            </a:r>
          </a:p>
          <a:p>
            <a:r>
              <a:rPr lang="de-DE" sz="1400" b="1" dirty="0" err="1" smtClean="0"/>
              <a:t>Diabetes_risk_score</a:t>
            </a:r>
            <a:r>
              <a:rPr lang="de-DE" sz="1400" dirty="0"/>
              <a:t> </a:t>
            </a:r>
            <a:r>
              <a:rPr lang="de-DE" sz="1400" dirty="0" smtClean="0"/>
              <a:t>für </a:t>
            </a:r>
            <a:r>
              <a:rPr lang="de-DE" sz="1400" dirty="0"/>
              <a:t>L</a:t>
            </a:r>
            <a:r>
              <a:rPr lang="de-DE" sz="1400" dirty="0" smtClean="0"/>
              <a:t>ineare Regression</a:t>
            </a:r>
          </a:p>
          <a:p>
            <a:endParaRPr lang="de-DE" sz="1400" dirty="0"/>
          </a:p>
          <a:p>
            <a:r>
              <a:rPr lang="de-DE" sz="1400" b="1" dirty="0" smtClean="0"/>
              <a:t>Kategorische Spalten:</a:t>
            </a:r>
          </a:p>
          <a:p>
            <a:r>
              <a:rPr lang="de-DE" sz="1400" dirty="0" err="1" smtClean="0"/>
              <a:t>gender</a:t>
            </a:r>
            <a:r>
              <a:rPr lang="de-DE" sz="1400" dirty="0" smtClean="0"/>
              <a:t>, </a:t>
            </a:r>
            <a:r>
              <a:rPr lang="de-DE" sz="1400" dirty="0" err="1" smtClean="0"/>
              <a:t>ethnicity</a:t>
            </a:r>
            <a:r>
              <a:rPr lang="de-DE" sz="1400" dirty="0" smtClean="0"/>
              <a:t>, </a:t>
            </a:r>
            <a:r>
              <a:rPr lang="de-DE" sz="1400" dirty="0" err="1" smtClean="0"/>
              <a:t>education_level</a:t>
            </a:r>
            <a:r>
              <a:rPr lang="de-DE" sz="1400" dirty="0" smtClean="0"/>
              <a:t>, </a:t>
            </a:r>
            <a:r>
              <a:rPr lang="de-DE" sz="1400" dirty="0" err="1" smtClean="0"/>
              <a:t>income_level</a:t>
            </a:r>
            <a:r>
              <a:rPr lang="de-DE" sz="1400" dirty="0" smtClean="0"/>
              <a:t>, </a:t>
            </a:r>
            <a:r>
              <a:rPr lang="de-DE" sz="1400" dirty="0" err="1" smtClean="0"/>
              <a:t>employment_status</a:t>
            </a:r>
            <a:r>
              <a:rPr lang="de-DE" sz="1400" dirty="0" smtClean="0"/>
              <a:t>, </a:t>
            </a:r>
            <a:r>
              <a:rPr lang="de-DE" sz="1400" dirty="0" err="1" smtClean="0"/>
              <a:t>smoking_status</a:t>
            </a:r>
            <a:endParaRPr lang="de-DE" sz="1400" b="1" dirty="0" smtClean="0"/>
          </a:p>
          <a:p>
            <a:endParaRPr lang="de-DE" sz="1400" dirty="0" smtClean="0"/>
          </a:p>
          <a:p>
            <a:r>
              <a:rPr lang="de-DE" sz="1400" b="1" dirty="0" smtClean="0"/>
              <a:t>Numerische Spalten mit wenige als 20 einzigartige Werte:</a:t>
            </a:r>
          </a:p>
          <a:p>
            <a:r>
              <a:rPr lang="de-DE" sz="1400" dirty="0" err="1" smtClean="0"/>
              <a:t>alcohol_consumption_per_week</a:t>
            </a:r>
            <a:r>
              <a:rPr lang="de-DE" sz="1400" dirty="0" smtClean="0"/>
              <a:t>, </a:t>
            </a:r>
            <a:r>
              <a:rPr lang="de-DE" sz="1400" dirty="0" err="1" smtClean="0"/>
              <a:t>family_history_diabetes</a:t>
            </a:r>
            <a:r>
              <a:rPr lang="de-DE" sz="1400" dirty="0" smtClean="0"/>
              <a:t>, </a:t>
            </a:r>
            <a:r>
              <a:rPr lang="de-DE" sz="1400" dirty="0" err="1" smtClean="0"/>
              <a:t>hypertension_history</a:t>
            </a:r>
            <a:r>
              <a:rPr lang="de-DE" sz="1400" dirty="0" smtClean="0"/>
              <a:t>, </a:t>
            </a:r>
            <a:r>
              <a:rPr lang="de-DE" sz="1400" dirty="0" err="1" smtClean="0"/>
              <a:t>cardiovascular_history</a:t>
            </a:r>
            <a:endParaRPr lang="de-DE" sz="1400" dirty="0" smtClean="0"/>
          </a:p>
          <a:p>
            <a:endParaRPr lang="de-DE" sz="1400" dirty="0"/>
          </a:p>
          <a:p>
            <a:r>
              <a:rPr lang="de-DE" sz="1400" b="1" dirty="0"/>
              <a:t>Numerische Spalten </a:t>
            </a:r>
            <a:r>
              <a:rPr lang="de-DE" sz="1400" b="1" dirty="0" smtClean="0"/>
              <a:t>mit mehr </a:t>
            </a:r>
            <a:r>
              <a:rPr lang="de-DE" sz="1400" b="1" dirty="0"/>
              <a:t>als 20 einzigartige Werte</a:t>
            </a:r>
            <a:r>
              <a:rPr lang="de-DE" sz="1400" b="1" dirty="0" smtClean="0"/>
              <a:t>:</a:t>
            </a:r>
          </a:p>
          <a:p>
            <a:r>
              <a:rPr lang="de-DE" sz="1400" dirty="0" err="1" smtClean="0"/>
              <a:t>age</a:t>
            </a:r>
            <a:r>
              <a:rPr lang="de-DE" sz="1400" dirty="0" smtClean="0"/>
              <a:t>, </a:t>
            </a:r>
            <a:r>
              <a:rPr lang="de-DE" sz="1400" dirty="0" err="1" smtClean="0"/>
              <a:t>physical_activity_minutes_per_week</a:t>
            </a:r>
            <a:r>
              <a:rPr lang="de-DE" sz="1400" dirty="0" smtClean="0"/>
              <a:t>, </a:t>
            </a:r>
            <a:r>
              <a:rPr lang="de-DE" sz="1400" dirty="0" err="1" smtClean="0"/>
              <a:t>sleep_hours_per_day</a:t>
            </a:r>
            <a:r>
              <a:rPr lang="de-DE" sz="1400" dirty="0" smtClean="0"/>
              <a:t>, </a:t>
            </a:r>
            <a:r>
              <a:rPr lang="de-DE" sz="1400" dirty="0" err="1" smtClean="0"/>
              <a:t>screen_time_hours_per_day</a:t>
            </a:r>
            <a:r>
              <a:rPr lang="de-DE" sz="1400" dirty="0" smtClean="0"/>
              <a:t>, </a:t>
            </a:r>
            <a:r>
              <a:rPr lang="de-DE" sz="1400" dirty="0" err="1" smtClean="0"/>
              <a:t>bmi</a:t>
            </a:r>
            <a:r>
              <a:rPr lang="de-DE" sz="1400" dirty="0" smtClean="0"/>
              <a:t>, </a:t>
            </a:r>
            <a:r>
              <a:rPr lang="de-DE" sz="1400" dirty="0" err="1" smtClean="0"/>
              <a:t>waist_to_hip_ratio</a:t>
            </a:r>
            <a:r>
              <a:rPr lang="de-DE" sz="1400" dirty="0" smtClean="0"/>
              <a:t>, </a:t>
            </a:r>
            <a:r>
              <a:rPr lang="de-DE" sz="1400" dirty="0" err="1" smtClean="0"/>
              <a:t>systolic_bp</a:t>
            </a:r>
            <a:r>
              <a:rPr lang="de-DE" sz="1400" dirty="0" smtClean="0"/>
              <a:t>, </a:t>
            </a:r>
            <a:r>
              <a:rPr lang="de-DE" sz="1400" dirty="0" err="1" smtClean="0"/>
              <a:t>diastolic_bp</a:t>
            </a:r>
            <a:r>
              <a:rPr lang="de-DE" sz="1400" dirty="0" smtClean="0"/>
              <a:t>, </a:t>
            </a:r>
            <a:r>
              <a:rPr lang="de-DE" sz="1400" dirty="0" err="1" smtClean="0"/>
              <a:t>heart_rate</a:t>
            </a:r>
            <a:r>
              <a:rPr lang="de-DE" sz="1400" dirty="0" smtClean="0"/>
              <a:t>, </a:t>
            </a:r>
            <a:r>
              <a:rPr lang="de-DE" sz="1400" dirty="0" err="1" smtClean="0"/>
              <a:t>cholesterol_total</a:t>
            </a:r>
            <a:r>
              <a:rPr lang="de-DE" sz="1400" dirty="0" smtClean="0"/>
              <a:t>, </a:t>
            </a:r>
            <a:r>
              <a:rPr lang="de-DE" sz="1400" dirty="0" err="1" smtClean="0"/>
              <a:t>hdl_cholesterol</a:t>
            </a:r>
            <a:r>
              <a:rPr lang="de-DE" sz="1400" dirty="0" smtClean="0"/>
              <a:t>, </a:t>
            </a:r>
            <a:r>
              <a:rPr lang="de-DE" sz="1400" dirty="0" err="1" smtClean="0"/>
              <a:t>ldl_cholesterol</a:t>
            </a:r>
            <a:r>
              <a:rPr lang="de-DE" sz="1400" dirty="0" smtClean="0"/>
              <a:t>, </a:t>
            </a:r>
            <a:r>
              <a:rPr lang="de-DE" sz="1400" dirty="0" err="1" smtClean="0"/>
              <a:t>triglycerides</a:t>
            </a:r>
            <a:r>
              <a:rPr lang="de-DE" sz="1400" dirty="0" smtClean="0"/>
              <a:t>, </a:t>
            </a:r>
            <a:r>
              <a:rPr lang="de-DE" sz="1400" dirty="0" err="1" smtClean="0"/>
              <a:t>glucose_fasting</a:t>
            </a:r>
            <a:r>
              <a:rPr lang="de-DE" sz="1400" dirty="0" smtClean="0"/>
              <a:t>, hba1c,  </a:t>
            </a:r>
            <a:r>
              <a:rPr lang="de-DE" sz="1400" dirty="0" err="1" smtClean="0"/>
              <a:t>glucose_postprandial</a:t>
            </a:r>
            <a:r>
              <a:rPr lang="de-DE" sz="1400" dirty="0" smtClean="0"/>
              <a:t>, </a:t>
            </a:r>
            <a:r>
              <a:rPr lang="de-DE" sz="1400" dirty="0" err="1" smtClean="0"/>
              <a:t>insulin_level</a:t>
            </a:r>
            <a:endParaRPr lang="de-DE" sz="1400" dirty="0" smtClean="0"/>
          </a:p>
          <a:p>
            <a:endParaRPr lang="de-DE" sz="1400" b="1" dirty="0"/>
          </a:p>
          <a:p>
            <a:r>
              <a:rPr lang="de-DE" sz="1400" b="1" dirty="0" smtClean="0"/>
              <a:t>Der Anzahl der fehlenden Werten: </a:t>
            </a:r>
            <a:r>
              <a:rPr lang="de-DE" sz="1400" dirty="0" smtClean="0"/>
              <a:t>0</a:t>
            </a:r>
          </a:p>
          <a:p>
            <a:endParaRPr lang="de-DE" sz="1400" b="1" dirty="0"/>
          </a:p>
          <a:p>
            <a:r>
              <a:rPr lang="de-DE" sz="1400" b="1" dirty="0" smtClean="0"/>
              <a:t>Der Anzahl der Duplikaten: </a:t>
            </a:r>
            <a:r>
              <a:rPr lang="de-DE" sz="1400" dirty="0" smtClean="0"/>
              <a:t>0</a:t>
            </a:r>
            <a:endParaRPr lang="de-DE" sz="1400" dirty="0"/>
          </a:p>
          <a:p>
            <a:endParaRPr lang="de-DE" dirty="0"/>
          </a:p>
          <a:p>
            <a:endParaRPr lang="de-DE" sz="1600" dirty="0"/>
          </a:p>
          <a:p>
            <a:endParaRPr lang="de-DE" sz="1600" dirty="0"/>
          </a:p>
          <a:p>
            <a:r>
              <a:rPr lang="en-US" dirty="0" smtClean="0"/>
              <a:t> </a:t>
            </a:r>
            <a:endParaRPr lang="de-DE" dirty="0"/>
          </a:p>
          <a:p>
            <a:endParaRPr lang="en-US" sz="2400" dirty="0"/>
          </a:p>
        </p:txBody>
      </p:sp>
      <p:pic>
        <p:nvPicPr>
          <p:cNvPr id="4" name="Grafik 3"/>
          <p:cNvPicPr>
            <a:picLocks noChangeAspect="1"/>
          </p:cNvPicPr>
          <p:nvPr/>
        </p:nvPicPr>
        <p:blipFill>
          <a:blip r:embed="rId3"/>
          <a:stretch>
            <a:fillRect/>
          </a:stretch>
        </p:blipFill>
        <p:spPr>
          <a:xfrm>
            <a:off x="251520" y="188640"/>
            <a:ext cx="1219306" cy="1024217"/>
          </a:xfrm>
          <a:prstGeom prst="rect">
            <a:avLst/>
          </a:prstGeom>
        </p:spPr>
      </p:pic>
    </p:spTree>
    <p:extLst>
      <p:ext uri="{BB962C8B-B14F-4D97-AF65-F5344CB8AC3E}">
        <p14:creationId xmlns:p14="http://schemas.microsoft.com/office/powerpoint/2010/main" val="37715119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363" y="0"/>
            <a:ext cx="7489274" cy="6858000"/>
          </a:xfrm>
          <a:prstGeom prst="rect">
            <a:avLst/>
          </a:prstGeom>
        </p:spPr>
      </p:pic>
    </p:spTree>
    <p:extLst>
      <p:ext uri="{BB962C8B-B14F-4D97-AF65-F5344CB8AC3E}">
        <p14:creationId xmlns:p14="http://schemas.microsoft.com/office/powerpoint/2010/main" val="31869954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132856"/>
            <a:ext cx="8712968" cy="4087376"/>
          </a:xfrm>
          <a:prstGeom prst="rect">
            <a:avLst/>
          </a:prstGeom>
        </p:spPr>
      </p:pic>
      <p:sp>
        <p:nvSpPr>
          <p:cNvPr id="2" name="Textfeld 1"/>
          <p:cNvSpPr txBox="1"/>
          <p:nvPr/>
        </p:nvSpPr>
        <p:spPr>
          <a:xfrm>
            <a:off x="935596" y="1108753"/>
            <a:ext cx="7344816" cy="461665"/>
          </a:xfrm>
          <a:prstGeom prst="rect">
            <a:avLst/>
          </a:prstGeom>
          <a:noFill/>
        </p:spPr>
        <p:txBody>
          <a:bodyPr wrap="square" rtlCol="0">
            <a:spAutoFit/>
          </a:bodyPr>
          <a:lstStyle/>
          <a:p>
            <a:pPr algn="ctr"/>
            <a:r>
              <a:rPr lang="de-DE" sz="2400" b="1" dirty="0"/>
              <a:t>Prozentuale Verteilung der Diabetes-Typen im Datensatz</a:t>
            </a:r>
          </a:p>
        </p:txBody>
      </p:sp>
      <p:pic>
        <p:nvPicPr>
          <p:cNvPr id="5" name="Grafik 4"/>
          <p:cNvPicPr>
            <a:picLocks noChangeAspect="1"/>
          </p:cNvPicPr>
          <p:nvPr/>
        </p:nvPicPr>
        <p:blipFill>
          <a:blip r:embed="rId4"/>
          <a:stretch>
            <a:fillRect/>
          </a:stretch>
        </p:blipFill>
        <p:spPr>
          <a:xfrm>
            <a:off x="145923" y="95936"/>
            <a:ext cx="1219306" cy="1024217"/>
          </a:xfrm>
          <a:prstGeom prst="rect">
            <a:avLst/>
          </a:prstGeom>
        </p:spPr>
      </p:pic>
    </p:spTree>
    <p:extLst>
      <p:ext uri="{BB962C8B-B14F-4D97-AF65-F5344CB8AC3E}">
        <p14:creationId xmlns:p14="http://schemas.microsoft.com/office/powerpoint/2010/main" val="6809697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p:cNvSpPr txBox="1"/>
          <p:nvPr/>
        </p:nvSpPr>
        <p:spPr>
          <a:xfrm>
            <a:off x="611560" y="332656"/>
            <a:ext cx="7992888" cy="830997"/>
          </a:xfrm>
          <a:prstGeom prst="rect">
            <a:avLst/>
          </a:prstGeom>
          <a:noFill/>
        </p:spPr>
        <p:txBody>
          <a:bodyPr wrap="square" rtlCol="0">
            <a:spAutoFit/>
          </a:bodyPr>
          <a:lstStyle/>
          <a:p>
            <a:pPr algn="ctr"/>
            <a:r>
              <a:rPr lang="de-DE" sz="2400" b="1" dirty="0"/>
              <a:t>Auswirkung der familiären Diabetes-Vorgeschichte auf das Auftreten von Diabetes</a:t>
            </a:r>
          </a:p>
        </p:txBody>
      </p:sp>
      <p:pic>
        <p:nvPicPr>
          <p:cNvPr id="6" name="Grafik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004" y="1268760"/>
            <a:ext cx="9144000" cy="5399645"/>
          </a:xfrm>
          <a:prstGeom prst="rect">
            <a:avLst/>
          </a:prstGeom>
        </p:spPr>
      </p:pic>
    </p:spTree>
    <p:extLst>
      <p:ext uri="{BB962C8B-B14F-4D97-AF65-F5344CB8AC3E}">
        <p14:creationId xmlns:p14="http://schemas.microsoft.com/office/powerpoint/2010/main" val="17440431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feld 8"/>
          <p:cNvSpPr txBox="1"/>
          <p:nvPr/>
        </p:nvSpPr>
        <p:spPr>
          <a:xfrm>
            <a:off x="7723" y="1268760"/>
            <a:ext cx="9144000" cy="461665"/>
          </a:xfrm>
          <a:prstGeom prst="rect">
            <a:avLst/>
          </a:prstGeom>
          <a:noFill/>
        </p:spPr>
        <p:txBody>
          <a:bodyPr wrap="square" rtlCol="0">
            <a:spAutoFit/>
          </a:bodyPr>
          <a:lstStyle/>
          <a:p>
            <a:pPr algn="ctr"/>
            <a:r>
              <a:rPr lang="de-DE" sz="2400" b="1" dirty="0" smtClean="0">
                <a:latin typeface="Arial" panose="020B0604020202020204" pitchFamily="34" charset="0"/>
                <a:cs typeface="Arial" panose="020B0604020202020204" pitchFamily="34" charset="0"/>
              </a:rPr>
              <a:t>Die Gruppierung von Diabetes-Typen nach dem Alter</a:t>
            </a:r>
            <a:endParaRPr lang="en-US" sz="2400" b="1" dirty="0">
              <a:latin typeface="Arial" panose="020B0604020202020204" pitchFamily="34" charset="0"/>
              <a:cs typeface="Arial" panose="020B0604020202020204" pitchFamily="34" charset="0"/>
            </a:endParaRPr>
          </a:p>
        </p:txBody>
      </p:sp>
      <p:pic>
        <p:nvPicPr>
          <p:cNvPr id="5" name="Grafik 4"/>
          <p:cNvPicPr>
            <a:picLocks noChangeAspect="1"/>
          </p:cNvPicPr>
          <p:nvPr/>
        </p:nvPicPr>
        <p:blipFill>
          <a:blip r:embed="rId3"/>
          <a:stretch>
            <a:fillRect/>
          </a:stretch>
        </p:blipFill>
        <p:spPr>
          <a:xfrm>
            <a:off x="107504" y="116632"/>
            <a:ext cx="1219306" cy="1024217"/>
          </a:xfrm>
          <a:prstGeom prst="rect">
            <a:avLst/>
          </a:prstGeom>
        </p:spPr>
      </p:pic>
      <p:pic>
        <p:nvPicPr>
          <p:cNvPr id="7" name="Grafik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29" y="1858336"/>
            <a:ext cx="9112014" cy="4297689"/>
          </a:xfrm>
          <a:prstGeom prst="rect">
            <a:avLst/>
          </a:prstGeom>
        </p:spPr>
      </p:pic>
    </p:spTree>
    <p:extLst>
      <p:ext uri="{BB962C8B-B14F-4D97-AF65-F5344CB8AC3E}">
        <p14:creationId xmlns:p14="http://schemas.microsoft.com/office/powerpoint/2010/main" val="16716109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feld 8"/>
          <p:cNvSpPr txBox="1"/>
          <p:nvPr/>
        </p:nvSpPr>
        <p:spPr>
          <a:xfrm>
            <a:off x="7723" y="1268760"/>
            <a:ext cx="9144000" cy="830997"/>
          </a:xfrm>
          <a:prstGeom prst="rect">
            <a:avLst/>
          </a:prstGeom>
          <a:noFill/>
        </p:spPr>
        <p:txBody>
          <a:bodyPr wrap="square" rtlCol="0">
            <a:spAutoFit/>
          </a:bodyPr>
          <a:lstStyle/>
          <a:p>
            <a:pPr algn="ctr"/>
            <a:r>
              <a:rPr lang="de-DE" sz="2400" b="1" dirty="0" smtClean="0">
                <a:latin typeface="Arial" panose="020B0604020202020204" pitchFamily="34" charset="0"/>
                <a:cs typeface="Arial" panose="020B0604020202020204" pitchFamily="34" charset="0"/>
              </a:rPr>
              <a:t>Vergleich zwischen Diabetes-Typen nach dem Alter bei </a:t>
            </a:r>
            <a:r>
              <a:rPr lang="de-DE" sz="2400" b="1" dirty="0" err="1" smtClean="0">
                <a:latin typeface="Arial" panose="020B0604020202020204" pitchFamily="34" charset="0"/>
                <a:cs typeface="Arial" panose="020B0604020202020204" pitchFamily="34" charset="0"/>
              </a:rPr>
              <a:t>Histogram</a:t>
            </a:r>
            <a:endParaRPr lang="en-US" sz="2400" b="1" dirty="0">
              <a:latin typeface="Arial" panose="020B0604020202020204" pitchFamily="34" charset="0"/>
              <a:cs typeface="Arial" panose="020B0604020202020204" pitchFamily="34" charset="0"/>
            </a:endParaRPr>
          </a:p>
        </p:txBody>
      </p:sp>
      <p:pic>
        <p:nvPicPr>
          <p:cNvPr id="5" name="Grafik 4"/>
          <p:cNvPicPr>
            <a:picLocks noChangeAspect="1"/>
          </p:cNvPicPr>
          <p:nvPr/>
        </p:nvPicPr>
        <p:blipFill>
          <a:blip r:embed="rId3"/>
          <a:stretch>
            <a:fillRect/>
          </a:stretch>
        </p:blipFill>
        <p:spPr>
          <a:xfrm>
            <a:off x="107504" y="116632"/>
            <a:ext cx="1219306" cy="1024217"/>
          </a:xfrm>
          <a:prstGeom prst="rect">
            <a:avLst/>
          </a:prstGeom>
        </p:spPr>
      </p:pic>
      <p:pic>
        <p:nvPicPr>
          <p:cNvPr id="2" name="Grafik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552" y="2492896"/>
            <a:ext cx="7795275" cy="4293117"/>
          </a:xfrm>
          <a:prstGeom prst="rect">
            <a:avLst/>
          </a:prstGeom>
        </p:spPr>
      </p:pic>
    </p:spTree>
    <p:extLst>
      <p:ext uri="{BB962C8B-B14F-4D97-AF65-F5344CB8AC3E}">
        <p14:creationId xmlns:p14="http://schemas.microsoft.com/office/powerpoint/2010/main" val="23331663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278" y="0"/>
            <a:ext cx="8215444" cy="6858000"/>
          </a:xfrm>
          <a:prstGeom prst="rect">
            <a:avLst/>
          </a:prstGeom>
        </p:spPr>
      </p:pic>
    </p:spTree>
    <p:extLst>
      <p:ext uri="{BB962C8B-B14F-4D97-AF65-F5344CB8AC3E}">
        <p14:creationId xmlns:p14="http://schemas.microsoft.com/office/powerpoint/2010/main" val="4192726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957923"/>
            <a:ext cx="9144000" cy="5826214"/>
          </a:xfrm>
          <a:prstGeom prst="rect">
            <a:avLst/>
          </a:prstGeom>
        </p:spPr>
      </p:pic>
      <p:graphicFrame>
        <p:nvGraphicFramePr>
          <p:cNvPr id="13" name="Objekt 12"/>
          <p:cNvGraphicFramePr>
            <a:graphicFrameLocks noChangeAspect="1"/>
          </p:cNvGraphicFramePr>
          <p:nvPr>
            <p:extLst>
              <p:ext uri="{D42A27DB-BD31-4B8C-83A1-F6EECF244321}">
                <p14:modId xmlns:p14="http://schemas.microsoft.com/office/powerpoint/2010/main" val="1842802048"/>
              </p:ext>
            </p:extLst>
          </p:nvPr>
        </p:nvGraphicFramePr>
        <p:xfrm>
          <a:off x="899592" y="0"/>
          <a:ext cx="7543800" cy="927100"/>
        </p:xfrm>
        <a:graphic>
          <a:graphicData uri="http://schemas.openxmlformats.org/presentationml/2006/ole">
            <mc:AlternateContent xmlns:mc="http://schemas.openxmlformats.org/markup-compatibility/2006">
              <mc:Choice xmlns:v="urn:schemas-microsoft-com:vml" Requires="v">
                <p:oleObj spid="_x0000_s1039" name="Arbeitsblatt" r:id="rId5" imgW="7543800" imgH="927244" progId="Excel.Sheet.12">
                  <p:embed/>
                </p:oleObj>
              </mc:Choice>
              <mc:Fallback>
                <p:oleObj name="Arbeitsblatt" r:id="rId5" imgW="7543800" imgH="927244" progId="Excel.Sheet.12">
                  <p:embed/>
                  <p:pic>
                    <p:nvPicPr>
                      <p:cNvPr id="0" name=""/>
                      <p:cNvPicPr/>
                      <p:nvPr/>
                    </p:nvPicPr>
                    <p:blipFill>
                      <a:blip r:embed="rId6"/>
                      <a:stretch>
                        <a:fillRect/>
                      </a:stretch>
                    </p:blipFill>
                    <p:spPr>
                      <a:xfrm>
                        <a:off x="899592" y="0"/>
                        <a:ext cx="7543800" cy="927100"/>
                      </a:xfrm>
                      <a:prstGeom prst="rect">
                        <a:avLst/>
                      </a:prstGeom>
                    </p:spPr>
                  </p:pic>
                </p:oleObj>
              </mc:Fallback>
            </mc:AlternateContent>
          </a:graphicData>
        </a:graphic>
      </p:graphicFrame>
    </p:spTree>
    <p:extLst>
      <p:ext uri="{BB962C8B-B14F-4D97-AF65-F5344CB8AC3E}">
        <p14:creationId xmlns:p14="http://schemas.microsoft.com/office/powerpoint/2010/main" val="18555068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63653"/>
            <a:ext cx="9144000" cy="6330694"/>
          </a:xfrm>
          <a:prstGeom prst="rect">
            <a:avLst/>
          </a:prstGeom>
        </p:spPr>
      </p:pic>
    </p:spTree>
    <p:extLst>
      <p:ext uri="{BB962C8B-B14F-4D97-AF65-F5344CB8AC3E}">
        <p14:creationId xmlns:p14="http://schemas.microsoft.com/office/powerpoint/2010/main" val="36355204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65743"/>
            <a:ext cx="9144000" cy="6326513"/>
          </a:xfrm>
          <a:prstGeom prst="rect">
            <a:avLst/>
          </a:prstGeom>
        </p:spPr>
      </p:pic>
    </p:spTree>
    <p:extLst>
      <p:ext uri="{BB962C8B-B14F-4D97-AF65-F5344CB8AC3E}">
        <p14:creationId xmlns:p14="http://schemas.microsoft.com/office/powerpoint/2010/main" val="31306529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sz="2400" b="1" dirty="0"/>
              <a:t>Erstellung eines kleineren Datensatzes und Fokus auf </a:t>
            </a:r>
            <a:r>
              <a:rPr lang="de-DE" sz="2400" b="1" dirty="0" smtClean="0"/>
              <a:t>Diabetes Typ-2</a:t>
            </a:r>
            <a:endParaRPr lang="de-DE" sz="2400" b="1" dirty="0"/>
          </a:p>
        </p:txBody>
      </p:sp>
      <p:sp>
        <p:nvSpPr>
          <p:cNvPr id="6" name="Rechteck 5"/>
          <p:cNvSpPr/>
          <p:nvPr/>
        </p:nvSpPr>
        <p:spPr>
          <a:xfrm>
            <a:off x="53752" y="3140968"/>
            <a:ext cx="9036496" cy="892552"/>
          </a:xfrm>
          <a:prstGeom prst="rect">
            <a:avLst/>
          </a:prstGeom>
          <a:solidFill>
            <a:schemeClr val="bg1">
              <a:alpha val="96000"/>
            </a:schemeClr>
          </a:solidFill>
        </p:spPr>
        <p:txBody>
          <a:bodyPr wrap="square">
            <a:spAutoFit/>
          </a:bodyPr>
          <a:lstStyle/>
          <a:p>
            <a:r>
              <a:rPr lang="de-DE" sz="1300" dirty="0">
                <a:solidFill>
                  <a:srgbClr val="008000"/>
                </a:solidFill>
                <a:latin typeface="Consolas" panose="020B0609020204030204" pitchFamily="49" charset="0"/>
              </a:rPr>
              <a:t>#Making </a:t>
            </a:r>
            <a:r>
              <a:rPr lang="de-DE" sz="1300" dirty="0" err="1">
                <a:solidFill>
                  <a:srgbClr val="008000"/>
                </a:solidFill>
                <a:latin typeface="Consolas" panose="020B0609020204030204" pitchFamily="49" charset="0"/>
              </a:rPr>
              <a:t>of</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new</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dataphram</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with</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only</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two</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categories</a:t>
            </a:r>
            <a:r>
              <a:rPr lang="de-DE" sz="1300" dirty="0">
                <a:solidFill>
                  <a:srgbClr val="008000"/>
                </a:solidFill>
                <a:latin typeface="Consolas" panose="020B0609020204030204" pitchFamily="49" charset="0"/>
              </a:rPr>
              <a:t> Type 2 </a:t>
            </a:r>
            <a:r>
              <a:rPr lang="de-DE" sz="1300" dirty="0" err="1">
                <a:solidFill>
                  <a:srgbClr val="008000"/>
                </a:solidFill>
                <a:latin typeface="Consolas" panose="020B0609020204030204" pitchFamily="49" charset="0"/>
              </a:rPr>
              <a:t>and</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No</a:t>
            </a:r>
            <a:r>
              <a:rPr lang="de-DE" sz="1300" dirty="0">
                <a:solidFill>
                  <a:srgbClr val="008000"/>
                </a:solidFill>
                <a:latin typeface="Consolas" panose="020B0609020204030204" pitchFamily="49" charset="0"/>
              </a:rPr>
              <a:t> Diabetes </a:t>
            </a:r>
            <a:r>
              <a:rPr lang="de-DE" sz="1300" dirty="0" err="1">
                <a:solidFill>
                  <a:srgbClr val="008000"/>
                </a:solidFill>
                <a:latin typeface="Consolas" panose="020B0609020204030204" pitchFamily="49" charset="0"/>
              </a:rPr>
              <a:t>by</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diabetes_stage</a:t>
            </a:r>
            <a:r>
              <a:rPr lang="de-DE" sz="1300" dirty="0">
                <a:solidFill>
                  <a:srgbClr val="008000"/>
                </a:solidFill>
                <a:latin typeface="Consolas" panose="020B0609020204030204" pitchFamily="49" charset="0"/>
              </a:rPr>
              <a:t> </a:t>
            </a:r>
            <a:r>
              <a:rPr lang="de-DE" sz="1300" dirty="0" err="1">
                <a:solidFill>
                  <a:srgbClr val="008000"/>
                </a:solidFill>
                <a:latin typeface="Consolas" panose="020B0609020204030204" pitchFamily="49" charset="0"/>
              </a:rPr>
              <a:t>column</a:t>
            </a:r>
            <a:endParaRPr lang="de-DE" sz="1300" dirty="0">
              <a:solidFill>
                <a:srgbClr val="000000"/>
              </a:solidFill>
              <a:latin typeface="Consolas" panose="020B0609020204030204" pitchFamily="49" charset="0"/>
            </a:endParaRPr>
          </a:p>
          <a:p>
            <a:r>
              <a:rPr lang="de-DE" sz="1300" dirty="0">
                <a:solidFill>
                  <a:srgbClr val="001080"/>
                </a:solidFill>
                <a:latin typeface="Consolas" panose="020B0609020204030204" pitchFamily="49" charset="0"/>
              </a:rPr>
              <a:t>df_diabetic_stage_type2_no</a:t>
            </a:r>
            <a:r>
              <a:rPr lang="de-DE" sz="1300" dirty="0">
                <a:solidFill>
                  <a:srgbClr val="000000"/>
                </a:solidFill>
                <a:latin typeface="Consolas" panose="020B0609020204030204" pitchFamily="49" charset="0"/>
              </a:rPr>
              <a:t> = </a:t>
            </a:r>
            <a:r>
              <a:rPr lang="de-DE" sz="1300" dirty="0" err="1">
                <a:solidFill>
                  <a:srgbClr val="001080"/>
                </a:solidFill>
                <a:latin typeface="Consolas" panose="020B0609020204030204" pitchFamily="49" charset="0"/>
              </a:rPr>
              <a:t>df</a:t>
            </a:r>
            <a:r>
              <a:rPr lang="de-DE" sz="1300" dirty="0">
                <a:solidFill>
                  <a:srgbClr val="000000"/>
                </a:solidFill>
                <a:latin typeface="Consolas" panose="020B0609020204030204" pitchFamily="49" charset="0"/>
              </a:rPr>
              <a:t>[</a:t>
            </a:r>
            <a:r>
              <a:rPr lang="de-DE" sz="1300" dirty="0" err="1">
                <a:solidFill>
                  <a:srgbClr val="001080"/>
                </a:solidFill>
                <a:latin typeface="Consolas" panose="020B0609020204030204" pitchFamily="49" charset="0"/>
              </a:rPr>
              <a:t>df</a:t>
            </a:r>
            <a:r>
              <a:rPr lang="de-DE" sz="1300" dirty="0">
                <a:solidFill>
                  <a:srgbClr val="000000"/>
                </a:solidFill>
                <a:latin typeface="Consolas" panose="020B0609020204030204" pitchFamily="49" charset="0"/>
              </a:rPr>
              <a:t>[</a:t>
            </a:r>
            <a:r>
              <a:rPr lang="de-DE" sz="1300" dirty="0">
                <a:solidFill>
                  <a:srgbClr val="A31515"/>
                </a:solidFill>
                <a:latin typeface="Consolas" panose="020B0609020204030204" pitchFamily="49" charset="0"/>
              </a:rPr>
              <a:t>'</a:t>
            </a:r>
            <a:r>
              <a:rPr lang="de-DE" sz="1300" dirty="0" err="1">
                <a:solidFill>
                  <a:srgbClr val="A31515"/>
                </a:solidFill>
                <a:latin typeface="Consolas" panose="020B0609020204030204" pitchFamily="49" charset="0"/>
              </a:rPr>
              <a:t>diabetes_stage</a:t>
            </a:r>
            <a:r>
              <a:rPr lang="de-DE" sz="1300" dirty="0">
                <a:solidFill>
                  <a:srgbClr val="A31515"/>
                </a:solidFill>
                <a:latin typeface="Consolas" panose="020B0609020204030204" pitchFamily="49" charset="0"/>
              </a:rPr>
              <a:t>'</a:t>
            </a:r>
            <a:r>
              <a:rPr lang="de-DE" sz="1300" dirty="0">
                <a:solidFill>
                  <a:srgbClr val="000000"/>
                </a:solidFill>
                <a:latin typeface="Consolas" panose="020B0609020204030204" pitchFamily="49" charset="0"/>
              </a:rPr>
              <a:t>].</a:t>
            </a:r>
            <a:r>
              <a:rPr lang="de-DE" sz="1300" dirty="0" err="1">
                <a:solidFill>
                  <a:srgbClr val="795E26"/>
                </a:solidFill>
                <a:latin typeface="Consolas" panose="020B0609020204030204" pitchFamily="49" charset="0"/>
              </a:rPr>
              <a:t>isin</a:t>
            </a:r>
            <a:r>
              <a:rPr lang="de-DE" sz="1300" dirty="0">
                <a:solidFill>
                  <a:srgbClr val="000000"/>
                </a:solidFill>
                <a:latin typeface="Consolas" panose="020B0609020204030204" pitchFamily="49" charset="0"/>
              </a:rPr>
              <a:t>([</a:t>
            </a:r>
            <a:r>
              <a:rPr lang="de-DE" sz="1300" dirty="0">
                <a:solidFill>
                  <a:srgbClr val="A31515"/>
                </a:solidFill>
                <a:latin typeface="Consolas" panose="020B0609020204030204" pitchFamily="49" charset="0"/>
              </a:rPr>
              <a:t>'Type 2'</a:t>
            </a:r>
            <a:r>
              <a:rPr lang="de-DE" sz="1300" dirty="0">
                <a:solidFill>
                  <a:srgbClr val="000000"/>
                </a:solidFill>
                <a:latin typeface="Consolas" panose="020B0609020204030204" pitchFamily="49" charset="0"/>
              </a:rPr>
              <a:t>, </a:t>
            </a:r>
            <a:r>
              <a:rPr lang="de-DE" sz="1300" dirty="0">
                <a:solidFill>
                  <a:srgbClr val="A31515"/>
                </a:solidFill>
                <a:latin typeface="Consolas" panose="020B0609020204030204" pitchFamily="49" charset="0"/>
              </a:rPr>
              <a:t>'</a:t>
            </a:r>
            <a:r>
              <a:rPr lang="de-DE" sz="1300" dirty="0" err="1">
                <a:solidFill>
                  <a:srgbClr val="A31515"/>
                </a:solidFill>
                <a:latin typeface="Consolas" panose="020B0609020204030204" pitchFamily="49" charset="0"/>
              </a:rPr>
              <a:t>No</a:t>
            </a:r>
            <a:r>
              <a:rPr lang="de-DE" sz="1300" dirty="0">
                <a:solidFill>
                  <a:srgbClr val="A31515"/>
                </a:solidFill>
                <a:latin typeface="Consolas" panose="020B0609020204030204" pitchFamily="49" charset="0"/>
              </a:rPr>
              <a:t> Diabetes'</a:t>
            </a:r>
            <a:r>
              <a:rPr lang="de-DE" sz="1300" dirty="0">
                <a:solidFill>
                  <a:srgbClr val="000000"/>
                </a:solidFill>
                <a:latin typeface="Consolas" panose="020B0609020204030204" pitchFamily="49" charset="0"/>
              </a:rPr>
              <a:t>])].</a:t>
            </a:r>
            <a:r>
              <a:rPr lang="de-DE" sz="1300" dirty="0" err="1">
                <a:solidFill>
                  <a:srgbClr val="795E26"/>
                </a:solidFill>
                <a:latin typeface="Consolas" panose="020B0609020204030204" pitchFamily="49" charset="0"/>
              </a:rPr>
              <a:t>copy</a:t>
            </a:r>
            <a:r>
              <a:rPr lang="de-DE" sz="1300" dirty="0">
                <a:solidFill>
                  <a:srgbClr val="000000"/>
                </a:solidFill>
                <a:latin typeface="Consolas" panose="020B0609020204030204" pitchFamily="49" charset="0"/>
              </a:rPr>
              <a:t>()</a:t>
            </a:r>
          </a:p>
          <a:p>
            <a:r>
              <a:rPr lang="de-DE" sz="1300" dirty="0">
                <a:solidFill>
                  <a:srgbClr val="001080"/>
                </a:solidFill>
                <a:latin typeface="Consolas" panose="020B0609020204030204" pitchFamily="49" charset="0"/>
              </a:rPr>
              <a:t>df_diabetic_stage_type2_no</a:t>
            </a:r>
            <a:r>
              <a:rPr lang="de-DE" sz="1300" dirty="0">
                <a:solidFill>
                  <a:srgbClr val="000000"/>
                </a:solidFill>
                <a:latin typeface="Consolas" panose="020B0609020204030204" pitchFamily="49" charset="0"/>
              </a:rPr>
              <a:t>[</a:t>
            </a:r>
            <a:r>
              <a:rPr lang="de-DE" sz="1300" dirty="0">
                <a:solidFill>
                  <a:srgbClr val="A31515"/>
                </a:solidFill>
                <a:latin typeface="Consolas" panose="020B0609020204030204" pitchFamily="49" charset="0"/>
              </a:rPr>
              <a:t>'</a:t>
            </a:r>
            <a:r>
              <a:rPr lang="de-DE" sz="1300" dirty="0" err="1">
                <a:solidFill>
                  <a:srgbClr val="A31515"/>
                </a:solidFill>
                <a:latin typeface="Consolas" panose="020B0609020204030204" pitchFamily="49" charset="0"/>
              </a:rPr>
              <a:t>diabetes_stage</a:t>
            </a:r>
            <a:r>
              <a:rPr lang="de-DE" sz="1300" dirty="0">
                <a:solidFill>
                  <a:srgbClr val="A31515"/>
                </a:solidFill>
                <a:latin typeface="Consolas" panose="020B0609020204030204" pitchFamily="49" charset="0"/>
              </a:rPr>
              <a:t>'</a:t>
            </a:r>
            <a:r>
              <a:rPr lang="de-DE" sz="1300" dirty="0">
                <a:solidFill>
                  <a:srgbClr val="000000"/>
                </a:solidFill>
                <a:latin typeface="Consolas" panose="020B0609020204030204" pitchFamily="49" charset="0"/>
              </a:rPr>
              <a:t>] = </a:t>
            </a:r>
            <a:r>
              <a:rPr lang="de-DE" sz="1300" dirty="0">
                <a:solidFill>
                  <a:srgbClr val="001080"/>
                </a:solidFill>
                <a:latin typeface="Consolas" panose="020B0609020204030204" pitchFamily="49" charset="0"/>
              </a:rPr>
              <a:t>df_diabetic_stage_type2_no</a:t>
            </a:r>
            <a:r>
              <a:rPr lang="de-DE" sz="1300" dirty="0">
                <a:solidFill>
                  <a:srgbClr val="000000"/>
                </a:solidFill>
                <a:latin typeface="Consolas" panose="020B0609020204030204" pitchFamily="49" charset="0"/>
              </a:rPr>
              <a:t>[</a:t>
            </a:r>
            <a:r>
              <a:rPr lang="de-DE" sz="1300" dirty="0">
                <a:solidFill>
                  <a:srgbClr val="A31515"/>
                </a:solidFill>
                <a:latin typeface="Consolas" panose="020B0609020204030204" pitchFamily="49" charset="0"/>
              </a:rPr>
              <a:t>'</a:t>
            </a:r>
            <a:r>
              <a:rPr lang="de-DE" sz="1300" dirty="0" err="1">
                <a:solidFill>
                  <a:srgbClr val="A31515"/>
                </a:solidFill>
                <a:latin typeface="Consolas" panose="020B0609020204030204" pitchFamily="49" charset="0"/>
              </a:rPr>
              <a:t>diabetes_stage</a:t>
            </a:r>
            <a:r>
              <a:rPr lang="de-DE" sz="1300" dirty="0">
                <a:solidFill>
                  <a:srgbClr val="A31515"/>
                </a:solidFill>
                <a:latin typeface="Consolas" panose="020B0609020204030204" pitchFamily="49" charset="0"/>
              </a:rPr>
              <a:t>'</a:t>
            </a:r>
            <a:r>
              <a:rPr lang="de-DE" sz="1300" dirty="0">
                <a:solidFill>
                  <a:srgbClr val="000000"/>
                </a:solidFill>
                <a:latin typeface="Consolas" panose="020B0609020204030204" pitchFamily="49" charset="0"/>
              </a:rPr>
              <a:t>].</a:t>
            </a:r>
            <a:r>
              <a:rPr lang="de-DE" sz="1300" dirty="0" err="1">
                <a:solidFill>
                  <a:srgbClr val="795E26"/>
                </a:solidFill>
                <a:latin typeface="Consolas" panose="020B0609020204030204" pitchFamily="49" charset="0"/>
              </a:rPr>
              <a:t>map</a:t>
            </a:r>
            <a:r>
              <a:rPr lang="de-DE" sz="1300" dirty="0">
                <a:solidFill>
                  <a:srgbClr val="000000"/>
                </a:solidFill>
                <a:latin typeface="Consolas" panose="020B0609020204030204" pitchFamily="49" charset="0"/>
              </a:rPr>
              <a:t>({</a:t>
            </a:r>
            <a:r>
              <a:rPr lang="de-DE" sz="1300" dirty="0">
                <a:solidFill>
                  <a:srgbClr val="A31515"/>
                </a:solidFill>
                <a:latin typeface="Consolas" panose="020B0609020204030204" pitchFamily="49" charset="0"/>
              </a:rPr>
              <a:t>'</a:t>
            </a:r>
            <a:r>
              <a:rPr lang="de-DE" sz="1300" dirty="0" err="1">
                <a:solidFill>
                  <a:srgbClr val="A31515"/>
                </a:solidFill>
                <a:latin typeface="Consolas" panose="020B0609020204030204" pitchFamily="49" charset="0"/>
              </a:rPr>
              <a:t>No</a:t>
            </a:r>
            <a:r>
              <a:rPr lang="de-DE" sz="1300" dirty="0">
                <a:solidFill>
                  <a:srgbClr val="A31515"/>
                </a:solidFill>
                <a:latin typeface="Consolas" panose="020B0609020204030204" pitchFamily="49" charset="0"/>
              </a:rPr>
              <a:t> Diabetes'</a:t>
            </a:r>
            <a:r>
              <a:rPr lang="de-DE" sz="1300" dirty="0">
                <a:solidFill>
                  <a:srgbClr val="000000"/>
                </a:solidFill>
                <a:latin typeface="Consolas" panose="020B0609020204030204" pitchFamily="49" charset="0"/>
              </a:rPr>
              <a:t>: </a:t>
            </a:r>
            <a:r>
              <a:rPr lang="de-DE" sz="1300" dirty="0">
                <a:solidFill>
                  <a:srgbClr val="098658"/>
                </a:solidFill>
                <a:latin typeface="Consolas" panose="020B0609020204030204" pitchFamily="49" charset="0"/>
              </a:rPr>
              <a:t>0</a:t>
            </a:r>
            <a:r>
              <a:rPr lang="de-DE" sz="1300" dirty="0">
                <a:solidFill>
                  <a:srgbClr val="000000"/>
                </a:solidFill>
                <a:latin typeface="Consolas" panose="020B0609020204030204" pitchFamily="49" charset="0"/>
              </a:rPr>
              <a:t>, </a:t>
            </a:r>
            <a:r>
              <a:rPr lang="de-DE" sz="1300" dirty="0">
                <a:solidFill>
                  <a:srgbClr val="A31515"/>
                </a:solidFill>
                <a:latin typeface="Consolas" panose="020B0609020204030204" pitchFamily="49" charset="0"/>
              </a:rPr>
              <a:t>'Type 2'</a:t>
            </a:r>
            <a:r>
              <a:rPr lang="de-DE" sz="1300" dirty="0">
                <a:solidFill>
                  <a:srgbClr val="000000"/>
                </a:solidFill>
                <a:latin typeface="Consolas" panose="020B0609020204030204" pitchFamily="49" charset="0"/>
              </a:rPr>
              <a:t>: </a:t>
            </a:r>
            <a:r>
              <a:rPr lang="de-DE" sz="1300" dirty="0">
                <a:solidFill>
                  <a:srgbClr val="098658"/>
                </a:solidFill>
                <a:latin typeface="Consolas" panose="020B0609020204030204" pitchFamily="49" charset="0"/>
              </a:rPr>
              <a:t>1</a:t>
            </a:r>
            <a:r>
              <a:rPr lang="de-DE" sz="1300" dirty="0">
                <a:solidFill>
                  <a:srgbClr val="000000"/>
                </a:solidFill>
                <a:latin typeface="Consolas" panose="020B0609020204030204" pitchFamily="49" charset="0"/>
              </a:rPr>
              <a:t>}).</a:t>
            </a:r>
            <a:r>
              <a:rPr lang="de-DE" sz="1300" dirty="0" err="1">
                <a:solidFill>
                  <a:srgbClr val="795E26"/>
                </a:solidFill>
                <a:latin typeface="Consolas" panose="020B0609020204030204" pitchFamily="49" charset="0"/>
              </a:rPr>
              <a:t>astype</a:t>
            </a:r>
            <a:r>
              <a:rPr lang="de-DE" sz="1300" dirty="0">
                <a:solidFill>
                  <a:srgbClr val="000000"/>
                </a:solidFill>
                <a:latin typeface="Consolas" panose="020B0609020204030204" pitchFamily="49" charset="0"/>
              </a:rPr>
              <a:t>(</a:t>
            </a:r>
            <a:r>
              <a:rPr lang="de-DE" sz="1300" dirty="0" err="1">
                <a:solidFill>
                  <a:srgbClr val="267F99"/>
                </a:solidFill>
                <a:latin typeface="Consolas" panose="020B0609020204030204" pitchFamily="49" charset="0"/>
              </a:rPr>
              <a:t>int</a:t>
            </a:r>
            <a:r>
              <a:rPr lang="de-DE" sz="1300" dirty="0">
                <a:solidFill>
                  <a:srgbClr val="000000"/>
                </a:solidFill>
                <a:latin typeface="Consolas" panose="020B0609020204030204" pitchFamily="49" charset="0"/>
              </a:rPr>
              <a:t>)</a:t>
            </a:r>
            <a:endParaRPr lang="de-DE" sz="1300" b="0" dirty="0">
              <a:solidFill>
                <a:srgbClr val="000000"/>
              </a:solidFill>
              <a:effectLst/>
              <a:latin typeface="Consolas" panose="020B0609020204030204" pitchFamily="49" charset="0"/>
            </a:endParaRPr>
          </a:p>
        </p:txBody>
      </p:sp>
      <p:sp>
        <p:nvSpPr>
          <p:cNvPr id="7" name="Rechteck 6"/>
          <p:cNvSpPr/>
          <p:nvPr/>
        </p:nvSpPr>
        <p:spPr>
          <a:xfrm>
            <a:off x="0" y="3140968"/>
            <a:ext cx="9144000" cy="1008112"/>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671704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052736"/>
            <a:ext cx="9144000" cy="5773572"/>
          </a:xfrm>
          <a:prstGeom prst="rect">
            <a:avLst/>
          </a:prstGeom>
        </p:spPr>
      </p:pic>
      <p:graphicFrame>
        <p:nvGraphicFramePr>
          <p:cNvPr id="5" name="Objekt 4"/>
          <p:cNvGraphicFramePr>
            <a:graphicFrameLocks noChangeAspect="1"/>
          </p:cNvGraphicFramePr>
          <p:nvPr>
            <p:extLst>
              <p:ext uri="{D42A27DB-BD31-4B8C-83A1-F6EECF244321}">
                <p14:modId xmlns:p14="http://schemas.microsoft.com/office/powerpoint/2010/main" val="329573189"/>
              </p:ext>
            </p:extLst>
          </p:nvPr>
        </p:nvGraphicFramePr>
        <p:xfrm>
          <a:off x="793750" y="0"/>
          <a:ext cx="7556500" cy="927100"/>
        </p:xfrm>
        <a:graphic>
          <a:graphicData uri="http://schemas.openxmlformats.org/presentationml/2006/ole">
            <mc:AlternateContent xmlns:mc="http://schemas.openxmlformats.org/markup-compatibility/2006">
              <mc:Choice xmlns:v="urn:schemas-microsoft-com:vml" Requires="v">
                <p:oleObj spid="_x0000_s2058" name="Arbeitsblatt" r:id="rId5" imgW="7556559" imgH="927244" progId="Excel.Sheet.12">
                  <p:embed/>
                </p:oleObj>
              </mc:Choice>
              <mc:Fallback>
                <p:oleObj name="Arbeitsblatt" r:id="rId5" imgW="7556559" imgH="927244" progId="Excel.Sheet.12">
                  <p:embed/>
                  <p:pic>
                    <p:nvPicPr>
                      <p:cNvPr id="0" name=""/>
                      <p:cNvPicPr/>
                      <p:nvPr/>
                    </p:nvPicPr>
                    <p:blipFill>
                      <a:blip r:embed="rId6"/>
                      <a:stretch>
                        <a:fillRect/>
                      </a:stretch>
                    </p:blipFill>
                    <p:spPr>
                      <a:xfrm>
                        <a:off x="793750" y="0"/>
                        <a:ext cx="7556500" cy="927100"/>
                      </a:xfrm>
                      <a:prstGeom prst="rect">
                        <a:avLst/>
                      </a:prstGeom>
                    </p:spPr>
                  </p:pic>
                </p:oleObj>
              </mc:Fallback>
            </mc:AlternateContent>
          </a:graphicData>
        </a:graphic>
      </p:graphicFrame>
    </p:spTree>
    <p:extLst>
      <p:ext uri="{BB962C8B-B14F-4D97-AF65-F5344CB8AC3E}">
        <p14:creationId xmlns:p14="http://schemas.microsoft.com/office/powerpoint/2010/main" val="26343540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067" y="0"/>
            <a:ext cx="8367866" cy="6858000"/>
          </a:xfrm>
          <a:prstGeom prst="rect">
            <a:avLst/>
          </a:prstGeom>
        </p:spPr>
      </p:pic>
    </p:spTree>
    <p:extLst>
      <p:ext uri="{BB962C8B-B14F-4D97-AF65-F5344CB8AC3E}">
        <p14:creationId xmlns:p14="http://schemas.microsoft.com/office/powerpoint/2010/main" val="20307464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511" y="0"/>
            <a:ext cx="8342978" cy="6858000"/>
          </a:xfrm>
          <a:prstGeom prst="rect">
            <a:avLst/>
          </a:prstGeom>
        </p:spPr>
      </p:pic>
    </p:spTree>
    <p:extLst>
      <p:ext uri="{BB962C8B-B14F-4D97-AF65-F5344CB8AC3E}">
        <p14:creationId xmlns:p14="http://schemas.microsoft.com/office/powerpoint/2010/main" val="29509809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p:cNvSpPr txBox="1"/>
          <p:nvPr/>
        </p:nvSpPr>
        <p:spPr>
          <a:xfrm>
            <a:off x="533701" y="3140968"/>
            <a:ext cx="7926732" cy="2554545"/>
          </a:xfrm>
          <a:prstGeom prst="rect">
            <a:avLst/>
          </a:prstGeom>
          <a:noFill/>
        </p:spPr>
        <p:txBody>
          <a:bodyPr wrap="square" rtlCol="0">
            <a:spAutoFit/>
          </a:bodyPr>
          <a:lstStyle/>
          <a:p>
            <a:endParaRPr lang="de-DE" sz="2000" dirty="0" smtClean="0"/>
          </a:p>
          <a:p>
            <a:endParaRPr lang="de-DE" sz="2000" dirty="0"/>
          </a:p>
          <a:p>
            <a:endParaRPr lang="de-DE" sz="2000" dirty="0" smtClean="0"/>
          </a:p>
          <a:p>
            <a:endParaRPr lang="de-DE" sz="2000" dirty="0"/>
          </a:p>
          <a:p>
            <a:endParaRPr lang="de-DE" sz="2000" dirty="0"/>
          </a:p>
          <a:p>
            <a:endParaRPr lang="en-US" sz="2000" dirty="0" smtClean="0"/>
          </a:p>
          <a:p>
            <a:endParaRPr lang="de-DE" sz="2000" dirty="0"/>
          </a:p>
          <a:p>
            <a:endParaRPr lang="en-US" sz="2000" dirty="0"/>
          </a:p>
        </p:txBody>
      </p:sp>
      <p:pic>
        <p:nvPicPr>
          <p:cNvPr id="2" name="Grafik 1"/>
          <p:cNvPicPr>
            <a:picLocks noChangeAspect="1"/>
          </p:cNvPicPr>
          <p:nvPr/>
        </p:nvPicPr>
        <p:blipFill>
          <a:blip r:embed="rId3"/>
          <a:stretch>
            <a:fillRect/>
          </a:stretch>
        </p:blipFill>
        <p:spPr>
          <a:xfrm>
            <a:off x="647109" y="1556792"/>
            <a:ext cx="7699915" cy="5078408"/>
          </a:xfrm>
          <a:prstGeom prst="rect">
            <a:avLst/>
          </a:prstGeom>
        </p:spPr>
      </p:pic>
      <p:sp>
        <p:nvSpPr>
          <p:cNvPr id="4" name="Textfeld 3"/>
          <p:cNvSpPr txBox="1"/>
          <p:nvPr/>
        </p:nvSpPr>
        <p:spPr>
          <a:xfrm>
            <a:off x="896666" y="3280388"/>
            <a:ext cx="7200800" cy="1631216"/>
          </a:xfrm>
          <a:prstGeom prst="rect">
            <a:avLst/>
          </a:prstGeom>
          <a:noFill/>
        </p:spPr>
        <p:txBody>
          <a:bodyPr wrap="square" rtlCol="0">
            <a:spAutoFit/>
          </a:bodyPr>
          <a:lstStyle/>
          <a:p>
            <a:pPr algn="ctr"/>
            <a:r>
              <a:rPr lang="de-DE" sz="5000" dirty="0" smtClean="0">
                <a:solidFill>
                  <a:schemeClr val="bg1"/>
                </a:solidFill>
              </a:rPr>
              <a:t>Vielen Dank für die  Aufmerksamkeit</a:t>
            </a:r>
            <a:endParaRPr lang="en-US" sz="5000" dirty="0">
              <a:solidFill>
                <a:schemeClr val="bg1"/>
              </a:solidFill>
            </a:endParaRPr>
          </a:p>
        </p:txBody>
      </p:sp>
      <p:pic>
        <p:nvPicPr>
          <p:cNvPr id="6" name="Grafik 5"/>
          <p:cNvPicPr>
            <a:picLocks noChangeAspect="1"/>
          </p:cNvPicPr>
          <p:nvPr/>
        </p:nvPicPr>
        <p:blipFill>
          <a:blip r:embed="rId4"/>
          <a:stretch>
            <a:fillRect/>
          </a:stretch>
        </p:blipFill>
        <p:spPr>
          <a:xfrm>
            <a:off x="107504" y="116632"/>
            <a:ext cx="1219306" cy="1024217"/>
          </a:xfrm>
          <a:prstGeom prst="rect">
            <a:avLst/>
          </a:prstGeom>
        </p:spPr>
      </p:pic>
    </p:spTree>
    <p:extLst>
      <p:ext uri="{BB962C8B-B14F-4D97-AF65-F5344CB8AC3E}">
        <p14:creationId xmlns:p14="http://schemas.microsoft.com/office/powerpoint/2010/main" val="38279290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462</Words>
  <Application>Microsoft Office PowerPoint</Application>
  <PresentationFormat>Bildschirmpräsentation (4:3)</PresentationFormat>
  <Paragraphs>97</Paragraphs>
  <Slides>19</Slides>
  <Notes>17</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19</vt:i4>
      </vt:variant>
    </vt:vector>
  </HeadingPairs>
  <TitlesOfParts>
    <vt:vector size="25" baseType="lpstr">
      <vt:lpstr>Arial</vt:lpstr>
      <vt:lpstr>Calibri</vt:lpstr>
      <vt:lpstr>Consolas</vt:lpstr>
      <vt:lpstr>Wingdings</vt:lpstr>
      <vt:lpstr>Office Theme</vt:lpstr>
      <vt:lpstr>Arbeitsblatt</vt:lpstr>
      <vt:lpstr>Abschlusspräsentation Portfolio Project  Diabetes Dataset  Mohamad Yamen Nahhas Date: 19.12.2025</vt:lpstr>
      <vt:lpstr>Überblick über Diabetes</vt:lpstr>
      <vt:lpstr>PowerPoint-Präsentation</vt:lpstr>
      <vt:lpstr>Ziel und Herausforderung bei der Analyse von Diabetes Dataset</vt:lpstr>
      <vt:lpstr>Informationen über Dataset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Erstellung eines kleineren Datensatzes und Fokus auf Diabetes Typ-2</vt:lpstr>
      <vt:lpstr>PowerPoint-Präsentation</vt:lpstr>
      <vt:lpstr>PowerPoint-Präsentation</vt:lpstr>
      <vt:lpstr>PowerPoint-Präsentation</vt:lpstr>
      <vt:lpstr>PowerPoint-Präsentation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basel nhhas</dc:creator>
  <cp:lastModifiedBy>yamen</cp:lastModifiedBy>
  <cp:revision>202</cp:revision>
  <dcterms:created xsi:type="dcterms:W3CDTF">2022-06-12T14:47:04Z</dcterms:created>
  <dcterms:modified xsi:type="dcterms:W3CDTF">2026-01-01T12:53:09Z</dcterms:modified>
</cp:coreProperties>
</file>